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70" r:id="rId3"/>
    <p:sldId id="257" r:id="rId4"/>
    <p:sldId id="271" r:id="rId5"/>
    <p:sldId id="258" r:id="rId6"/>
    <p:sldId id="260" r:id="rId7"/>
    <p:sldId id="277" r:id="rId8"/>
    <p:sldId id="278" r:id="rId9"/>
    <p:sldId id="279" r:id="rId10"/>
    <p:sldId id="268" r:id="rId11"/>
    <p:sldId id="266" r:id="rId12"/>
    <p:sldId id="282" r:id="rId13"/>
    <p:sldId id="283" r:id="rId14"/>
    <p:sldId id="284" r:id="rId15"/>
    <p:sldId id="285"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4F97450-F0C2-399D-1B76-4F2EBF94A5A4}">
          <p14:sldIdLst>
            <p14:sldId id="256"/>
            <p14:sldId id="270"/>
          </p14:sldIdLst>
        </p14:section>
        <p14:section name="Exploratory Analysis" id="{6C5BCC27-E422-6622-AC67-2218D51D4C05}">
          <p14:sldIdLst>
            <p14:sldId id="257"/>
            <p14:sldId id="271"/>
            <p14:sldId id="258"/>
            <p14:sldId id="260"/>
            <p14:sldId id="277"/>
            <p14:sldId id="278"/>
          </p14:sldIdLst>
        </p14:section>
        <p14:section name="Model Analysis" id="{2D5F3DD0-908C-4067-9E2B-38C0BEB97232}">
          <p14:sldIdLst>
            <p14:sldId id="279"/>
            <p14:sldId id="268"/>
            <p14:sldId id="266"/>
            <p14:sldId id="282"/>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E3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286" autoAdjust="0"/>
    <p:restoredTop sz="94610"/>
  </p:normalViewPr>
  <p:slideViewPr>
    <p:cSldViewPr snapToGrid="0" snapToObjects="1">
      <p:cViewPr varScale="1">
        <p:scale>
          <a:sx n="38" d="100"/>
          <a:sy n="38" d="100"/>
        </p:scale>
        <p:origin x="20" y="5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2389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I load the packages we’ve used in class: </a:t>
            </a:r>
            <a:r>
              <a:rPr lang="en-US" dirty="0" err="1"/>
              <a:t>tidyverse</a:t>
            </a:r>
            <a:r>
              <a:rPr lang="en-US" dirty="0"/>
              <a:t>, class for KNN, caret for confusion matrices, e1071 for Naive Bayes, and </a:t>
            </a:r>
            <a:r>
              <a:rPr lang="en-US" dirty="0" err="1"/>
              <a:t>GGally</a:t>
            </a:r>
            <a:r>
              <a:rPr lang="en-US" dirty="0"/>
              <a:t> for </a:t>
            </a:r>
            <a:r>
              <a:rPr lang="en-US" dirty="0" err="1"/>
              <a:t>ggpairs</a:t>
            </a:r>
            <a:r>
              <a:rPr lang="en-US" dirty="0"/>
              <a:t>. Then I read in the data. dim shows 870 employees and 36 variables.”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BDA6C-7692-2C5C-2275-18063290A1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1E276A-A22A-1D8D-461F-59C7D955BE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6B2562-3D5C-3F05-4894-6DD077D12DA7}"/>
              </a:ext>
            </a:extLst>
          </p:cNvPr>
          <p:cNvSpPr>
            <a:spLocks noGrp="1"/>
          </p:cNvSpPr>
          <p:nvPr>
            <p:ph type="body" idx="1"/>
          </p:nvPr>
        </p:nvSpPr>
        <p:spPr/>
        <p:txBody>
          <a:bodyPr/>
          <a:lstStyle/>
          <a:p>
            <a:r>
              <a:rPr lang="en-US" dirty="0"/>
              <a:t>This is the key business point for the CFO. False negatives are expensive, false positives are cheap. That is why I will tune the models toward higher sensitivity while keeping specificity above 60%.</a:t>
            </a:r>
          </a:p>
        </p:txBody>
      </p:sp>
      <p:sp>
        <p:nvSpPr>
          <p:cNvPr id="4" name="Slide Number Placeholder 3">
            <a:extLst>
              <a:ext uri="{FF2B5EF4-FFF2-40B4-BE49-F238E27FC236}">
                <a16:creationId xmlns:a16="http://schemas.microsoft.com/office/drawing/2014/main" id="{39514180-D40E-E679-3691-70116DB1E4AE}"/>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377188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classes are imbalanced: only 16% left. A model that says 'No' for everyone is already about 84% accurate, so accuracy alone is misleading. That is why I focus on sensitivity and specificity.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Almost one in three overtime workers left, compared with one in ten who do not work overtime. This is likely one of the top three factors.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Employees with no stock options leave at about 26%. Having any options cuts that to under 8% at levels 1 and 2. Level 3 is based on a small group, so I don't read much into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EE8F5-C4C6-E88C-D005-F4CB69B103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548F45-05BC-E02A-8E71-A703DF773A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8B56B5-257F-4DE3-036D-247D447B80CF}"/>
              </a:ext>
            </a:extLst>
          </p:cNvPr>
          <p:cNvSpPr>
            <a:spLocks noGrp="1"/>
          </p:cNvSpPr>
          <p:nvPr>
            <p:ph type="body" idx="1"/>
          </p:nvPr>
        </p:nvSpPr>
        <p:spPr/>
        <p:txBody>
          <a:bodyPr/>
          <a:lstStyle/>
          <a:p>
            <a:r>
              <a:rPr lang="en-US" dirty="0"/>
              <a:t>Employees with no stock options leave at about 26%. Having any options cuts that to under 8% at levels 1 and 2. Level 3 is based on a small group, so I don't read much into it.</a:t>
            </a:r>
          </a:p>
        </p:txBody>
      </p:sp>
      <p:sp>
        <p:nvSpPr>
          <p:cNvPr id="4" name="Slide Number Placeholder 3">
            <a:extLst>
              <a:ext uri="{FF2B5EF4-FFF2-40B4-BE49-F238E27FC236}">
                <a16:creationId xmlns:a16="http://schemas.microsoft.com/office/drawing/2014/main" id="{2026B406-1336-C8D3-306C-AF742548E87A}"/>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1571696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42144-4B8D-139F-2BFB-1E7EB01673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D40534-2BCD-05FA-8FBC-04DF7F2797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A63EA6-B97E-2322-687D-73E96BBCDFD7}"/>
              </a:ext>
            </a:extLst>
          </p:cNvPr>
          <p:cNvSpPr>
            <a:spLocks noGrp="1"/>
          </p:cNvSpPr>
          <p:nvPr>
            <p:ph type="body" idx="1"/>
          </p:nvPr>
        </p:nvSpPr>
        <p:spPr/>
        <p:txBody>
          <a:bodyPr/>
          <a:lstStyle/>
          <a:p>
            <a:r>
              <a:rPr lang="en-US" dirty="0"/>
              <a:t>Not everything matters. Gender and performance rating are within about two points of the overall 16% rate. The pay-rate columns (hourly, daily, monthly rate) and percent salary hike show no significant difference, so they are poor predictors. Note the rate columns are different from monthly income, which does matter.</a:t>
            </a:r>
          </a:p>
        </p:txBody>
      </p:sp>
      <p:sp>
        <p:nvSpPr>
          <p:cNvPr id="4" name="Slide Number Placeholder 3">
            <a:extLst>
              <a:ext uri="{FF2B5EF4-FFF2-40B4-BE49-F238E27FC236}">
                <a16:creationId xmlns:a16="http://schemas.microsoft.com/office/drawing/2014/main" id="{8BF8D693-50C4-D769-C2C5-8325E63C3B80}"/>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889855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Both models now use all 18 features that passed the significance tests. KNN measures distance, so it needs numbers on the same scale: I standardized the 13 numeric features and turned each significant categorical feature into a 0/1 flag for its highest-risk group. Naive Bayes handles categories directly. Because only 16% of employees left, I also tuned the cutoff for predicting 'Yes', and averaged every result over many random splits so it is not one lucky split.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business point for the CFO. False negatives are expensive, false positives are cheap. That is why I will tune the models toward higher sensitivity while keeping specificity above 60%.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stays high for every k because the model mostly predicts No. Sensitivity drops as k grows. At k = 5 the default model's accuracy (86.6%) is not better than guessing No for everyone (86.97%, p = 0.62). Lowering the cutoff to 0.2 costs a little accuracy but raises sensitivity from 21% to 38%.</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To fix the imbalance I lowered the cutoff for predicting 'Yes' and tested many values over many random splits. As the cutoff drops, sensitivity rises and specificity falls. I picked the setting where the lower of the two is highest, so both stay as far above 60% as possible. For Naive Bayes that is 0.25. For KNN it is k = 21, flagging anyone where 3 or more of the 21 nearest neighbors left.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Here are all four versions averaged over the random splits. At the default cutoff KNN has strong specificity but only 16% sensitivity. After tuning, both models are above 60% on both measures. Tuned Naive Bayes is the best: about 72% sensitivity and 71% specificity on average, and on the original test split it caught 25 of the 34 leavers. That is my final model.</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Now the money. On the 261-employee test set, the tuned Naive Bayes model flags 79 people, so the incentives cost $15,800. It catches 25 of the 34 leavers. If the incentive keeps them, Frito-Lay avoids replacing them, which is worth between $467,000 and $3.8 million after paying for the incentives, depending on whether replacement costs 50% or 400% of salary. And it only takes keeping one average caught leaver to cover the whole incentive cost.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To wrap up: the three biggest drivers are overtime, no stock options, and low monthly income. The tuned Naive Bayes model uses all 18 significant features and clears the 60/60 target with room to spare. My recommendations: use the model to target the $200 incentive, review overtime for hourly staff, extend stock options to entry-level employees, and keep a close eye on Sales Representatives, almost half of whom left. Thank you.</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03120"/>
            <a:ext cx="10698480" cy="146304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731520" y="3749040"/>
            <a:ext cx="10698480" cy="2194560"/>
          </a:xfrm>
          <a:prstGeom prst="rect">
            <a:avLst/>
          </a:prstGeom>
          <a:noFill/>
          <a:ln/>
        </p:spPr>
        <p:txBody>
          <a:bodyPr wrap="square" rtlCol="0"/>
          <a:lstStyle>
            <a:lvl1pPr marL="0" indent="0" algn="l">
              <a:buNone/>
              <a:defRPr lang="en-US" sz="2000" dirty="0">
                <a:solidFill>
                  <a:schemeClr val="bg2"/>
                </a:solidFill>
              </a:defRPr>
            </a:lvl1pPr>
          </a:lstStyle>
          <a:p>
            <a:pPr marL="0" indent="0" algn="l">
              <a:buNone/>
            </a:pPr>
            <a:endParaRPr lang="en-US" sz="20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rtlCol="0"/>
          <a:lstStyle>
            <a:lvl1pPr marL="0" indent="0">
              <a:buNone/>
              <a:defRPr lang="en-US" sz="3200" b="1" dirty="0">
                <a:solidFill>
                  <a:schemeClr val="tx1"/>
                </a:solidFill>
              </a:defRPr>
            </a:lvl1pPr>
          </a:lstStyle>
          <a:p>
            <a:pPr marL="0" indent="0">
              <a:buNone/>
            </a:pPr>
            <a:endParaRPr lang="en-US" sz="32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03120"/>
            <a:ext cx="10698480" cy="1463040"/>
          </a:xfrm>
          <a:prstGeom prst="rect">
            <a:avLst/>
          </a:prstGeom>
          <a:noFill/>
          <a:ln/>
        </p:spPr>
        <p:txBody>
          <a:bodyPr wrap="square" lIns="0" tIns="0" rIns="0" bIns="0" rtlCol="0" anchor="b"/>
          <a:lstStyle/>
          <a:p>
            <a:pPr marL="0" indent="0" algn="l">
              <a:buNone/>
            </a:pPr>
            <a:r>
              <a:rPr lang="en-US" sz="4000" b="1" dirty="0">
                <a:solidFill>
                  <a:schemeClr val="bg1"/>
                </a:solidFill>
              </a:rPr>
              <a:t>What Drives Employee Attrition at Frito‑Lay?</a:t>
            </a:r>
            <a:endParaRPr lang="en-US" sz="4000" dirty="0"/>
          </a:p>
        </p:txBody>
      </p:sp>
      <p:sp>
        <p:nvSpPr>
          <p:cNvPr id="3" name="Text 0"/>
          <p:cNvSpPr>
            <a:spLocks noGrp="1"/>
          </p:cNvSpPr>
          <p:nvPr>
            <p:ph type="body" idx="101" hasCustomPrompt="1"/>
          </p:nvPr>
        </p:nvSpPr>
        <p:spPr>
          <a:xfrm>
            <a:off x="731520" y="3749040"/>
            <a:ext cx="10698480" cy="2194560"/>
          </a:xfrm>
          <a:prstGeom prst="rect">
            <a:avLst/>
          </a:prstGeom>
          <a:noFill/>
          <a:ln/>
        </p:spPr>
        <p:txBody>
          <a:bodyPr wrap="square" lIns="0" tIns="0" rIns="0" bIns="0" rtlCol="0" anchor="t"/>
          <a:lstStyle/>
          <a:p>
            <a:pPr marL="0" indent="0" algn="l">
              <a:buNone/>
            </a:pPr>
            <a:r>
              <a:rPr lang="en-US" sz="2000" dirty="0">
                <a:solidFill>
                  <a:schemeClr val="bg2"/>
                </a:solidFill>
              </a:rPr>
              <a:t>Case Study 1 working draft  |  DDSAnalytics  |  Jorge  Vazquez, MSDS 6306</a:t>
            </a:r>
            <a:endParaRPr lang="en-US" sz="2000" dirty="0"/>
          </a:p>
        </p:txBody>
      </p:sp>
      <p:sp>
        <p:nvSpPr>
          <p:cNvPr id="5" name="Shape 1">
            <a:extLst>
              <a:ext uri="{FF2B5EF4-FFF2-40B4-BE49-F238E27FC236}">
                <a16:creationId xmlns:a16="http://schemas.microsoft.com/office/drawing/2014/main" id="{D14DB300-A08D-47B9-A5D7-1268EE42F42E}"/>
              </a:ext>
            </a:extLst>
          </p:cNvPr>
          <p:cNvSpPr/>
          <p:nvPr/>
        </p:nvSpPr>
        <p:spPr>
          <a:xfrm>
            <a:off x="548640" y="6959600"/>
            <a:ext cx="5440680" cy="3017520"/>
          </a:xfrm>
          <a:prstGeom prst="roundRect">
            <a:avLst>
              <a:gd name="adj" fmla="val 2424"/>
            </a:avLst>
          </a:prstGeom>
          <a:solidFill>
            <a:schemeClr val="bg2"/>
          </a:solidFill>
          <a:ln w="12700">
            <a:solidFill>
              <a:schemeClr val="bg2"/>
            </a:solidFill>
            <a:prstDash val="solid"/>
          </a:ln>
        </p:spPr>
        <p:txBody>
          <a:bodyPr/>
          <a:lstStyle/>
          <a:p>
            <a:endParaRPr lang="en-US">
              <a:latin typeface="Bahnschrift Light" panose="020B0502040204020203" pitchFamily="34" charset="0"/>
            </a:endParaRPr>
          </a:p>
        </p:txBody>
      </p:sp>
      <p:sp>
        <p:nvSpPr>
          <p:cNvPr id="7" name="Shape 5">
            <a:extLst>
              <a:ext uri="{FF2B5EF4-FFF2-40B4-BE49-F238E27FC236}">
                <a16:creationId xmlns:a16="http://schemas.microsoft.com/office/drawing/2014/main" id="{D420AEAE-437D-1AE9-9E82-13DA4A33A06E}"/>
              </a:ext>
            </a:extLst>
          </p:cNvPr>
          <p:cNvSpPr/>
          <p:nvPr/>
        </p:nvSpPr>
        <p:spPr>
          <a:xfrm>
            <a:off x="6202682" y="6935820"/>
            <a:ext cx="5440680" cy="3017520"/>
          </a:xfrm>
          <a:prstGeom prst="roundRect">
            <a:avLst>
              <a:gd name="adj" fmla="val 2424"/>
            </a:avLst>
          </a:prstGeom>
          <a:solidFill>
            <a:schemeClr val="bg2"/>
          </a:solidFill>
          <a:ln w="12700">
            <a:solidFill>
              <a:schemeClr val="bg2"/>
            </a:solidFill>
            <a:prstDash val="solid"/>
          </a:ln>
        </p:spPr>
        <p:txBody>
          <a:bodyPr/>
          <a:lstStyle/>
          <a:p>
            <a:endParaRPr lang="en-US">
              <a:latin typeface="Bahnschrift Light" panose="020B0502040204020203" pitchFamily="34" charset="0"/>
            </a:endParaRPr>
          </a:p>
        </p:txBody>
      </p:sp>
    </p:spTree>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11947-39EA-9598-C31C-85FACC9DDE7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D831038-9023-8E05-0FC7-7175B1B1EAB2}"/>
              </a:ext>
            </a:extLst>
          </p:cNvPr>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buNone/>
            </a:pPr>
            <a:r>
              <a:rPr lang="en-US" dirty="0"/>
              <a:t>Overview</a:t>
            </a:r>
            <a:endParaRPr lang="en-US" sz="3200" dirty="0"/>
          </a:p>
        </p:txBody>
      </p:sp>
      <p:sp>
        <p:nvSpPr>
          <p:cNvPr id="3" name="Shape 1">
            <a:extLst>
              <a:ext uri="{FF2B5EF4-FFF2-40B4-BE49-F238E27FC236}">
                <a16:creationId xmlns:a16="http://schemas.microsoft.com/office/drawing/2014/main" id="{D004C1C9-052C-1BE1-0CB8-5C80BBF07038}"/>
              </a:ext>
            </a:extLst>
          </p:cNvPr>
          <p:cNvSpPr/>
          <p:nvPr/>
        </p:nvSpPr>
        <p:spPr>
          <a:xfrm>
            <a:off x="548640" y="2240280"/>
            <a:ext cx="5440680" cy="3017520"/>
          </a:xfrm>
          <a:prstGeom prst="roundRect">
            <a:avLst>
              <a:gd name="adj" fmla="val 2424"/>
            </a:avLst>
          </a:prstGeom>
          <a:solidFill>
            <a:schemeClr val="bg2"/>
          </a:solidFill>
          <a:ln w="12700">
            <a:solidFill>
              <a:schemeClr val="bg2"/>
            </a:solidFill>
            <a:prstDash val="solid"/>
          </a:ln>
        </p:spPr>
        <p:txBody>
          <a:bodyPr/>
          <a:lstStyle/>
          <a:p>
            <a:endParaRPr lang="en-US">
              <a:latin typeface="+mj-lt"/>
            </a:endParaRPr>
          </a:p>
        </p:txBody>
      </p:sp>
      <p:sp>
        <p:nvSpPr>
          <p:cNvPr id="4" name="Text 2">
            <a:extLst>
              <a:ext uri="{FF2B5EF4-FFF2-40B4-BE49-F238E27FC236}">
                <a16:creationId xmlns:a16="http://schemas.microsoft.com/office/drawing/2014/main" id="{4BFF44A5-11B5-080E-0820-56201500156B}"/>
              </a:ext>
            </a:extLst>
          </p:cNvPr>
          <p:cNvSpPr txBox="1"/>
          <p:nvPr/>
        </p:nvSpPr>
        <p:spPr>
          <a:xfrm>
            <a:off x="822960" y="2423160"/>
            <a:ext cx="4892040" cy="548640"/>
          </a:xfrm>
          <a:prstGeom prst="rect">
            <a:avLst/>
          </a:prstGeom>
          <a:noFill/>
          <a:ln/>
        </p:spPr>
        <p:txBody>
          <a:bodyPr wrap="square" lIns="0" tIns="0" rIns="0" bIns="0" rtlCol="0" anchor="ctr"/>
          <a:lstStyle/>
          <a:p>
            <a:pPr marL="0" indent="0">
              <a:buNone/>
            </a:pPr>
            <a:r>
              <a:rPr lang="en-US" sz="2400" b="1" dirty="0">
                <a:solidFill>
                  <a:schemeClr val="accent5"/>
                </a:solidFill>
                <a:latin typeface="+mj-lt"/>
                <a:ea typeface="Cambria" pitchFamily="34" charset="-122"/>
                <a:cs typeface="Cambria" pitchFamily="34" charset="-120"/>
              </a:rPr>
              <a:t>Impact</a:t>
            </a:r>
            <a:endParaRPr lang="en-US" sz="2400" dirty="0">
              <a:solidFill>
                <a:schemeClr val="accent5"/>
              </a:solidFill>
              <a:latin typeface="+mj-lt"/>
            </a:endParaRPr>
          </a:p>
        </p:txBody>
      </p:sp>
      <p:sp>
        <p:nvSpPr>
          <p:cNvPr id="5" name="Text 3">
            <a:extLst>
              <a:ext uri="{FF2B5EF4-FFF2-40B4-BE49-F238E27FC236}">
                <a16:creationId xmlns:a16="http://schemas.microsoft.com/office/drawing/2014/main" id="{7357DAD7-F277-DC15-F7C8-4839FD028B8E}"/>
              </a:ext>
            </a:extLst>
          </p:cNvPr>
          <p:cNvSpPr txBox="1"/>
          <p:nvPr/>
        </p:nvSpPr>
        <p:spPr>
          <a:xfrm>
            <a:off x="822960" y="3063240"/>
            <a:ext cx="4892040" cy="1005840"/>
          </a:xfrm>
          <a:prstGeom prst="rect">
            <a:avLst/>
          </a:prstGeom>
          <a:noFill/>
          <a:ln/>
        </p:spPr>
        <p:txBody>
          <a:bodyPr wrap="square" lIns="0" tIns="0" rIns="0" bIns="0" rtlCol="0" anchor="t"/>
          <a:lstStyle/>
          <a:p>
            <a:pPr marL="0" indent="0">
              <a:buNone/>
            </a:pPr>
            <a:r>
              <a:rPr lang="en-US" sz="1600" b="1" dirty="0">
                <a:latin typeface="+mj-lt"/>
              </a:rPr>
              <a:t>Answering the question can reduce the financial impact attrition and employee retention has on the company</a:t>
            </a:r>
            <a:endParaRPr lang="en-US" sz="1600" dirty="0">
              <a:latin typeface="+mj-lt"/>
            </a:endParaRPr>
          </a:p>
        </p:txBody>
      </p:sp>
      <p:sp>
        <p:nvSpPr>
          <p:cNvPr id="7" name="Shape 5">
            <a:extLst>
              <a:ext uri="{FF2B5EF4-FFF2-40B4-BE49-F238E27FC236}">
                <a16:creationId xmlns:a16="http://schemas.microsoft.com/office/drawing/2014/main" id="{36AACCC4-E013-0205-434E-228A7B67B531}"/>
              </a:ext>
            </a:extLst>
          </p:cNvPr>
          <p:cNvSpPr/>
          <p:nvPr/>
        </p:nvSpPr>
        <p:spPr>
          <a:xfrm>
            <a:off x="6172200" y="2240280"/>
            <a:ext cx="5440680" cy="3017520"/>
          </a:xfrm>
          <a:prstGeom prst="roundRect">
            <a:avLst>
              <a:gd name="adj" fmla="val 2424"/>
            </a:avLst>
          </a:prstGeom>
          <a:solidFill>
            <a:schemeClr val="bg2"/>
          </a:solidFill>
          <a:ln w="12700">
            <a:solidFill>
              <a:schemeClr val="bg2"/>
            </a:solidFill>
            <a:prstDash val="solid"/>
          </a:ln>
        </p:spPr>
        <p:txBody>
          <a:bodyPr/>
          <a:lstStyle/>
          <a:p>
            <a:endParaRPr lang="en-US">
              <a:latin typeface="+mj-lt"/>
            </a:endParaRPr>
          </a:p>
        </p:txBody>
      </p:sp>
      <p:sp>
        <p:nvSpPr>
          <p:cNvPr id="8" name="Text 6">
            <a:extLst>
              <a:ext uri="{FF2B5EF4-FFF2-40B4-BE49-F238E27FC236}">
                <a16:creationId xmlns:a16="http://schemas.microsoft.com/office/drawing/2014/main" id="{95A828F7-0811-879B-76A7-B1A6246BE3F4}"/>
              </a:ext>
            </a:extLst>
          </p:cNvPr>
          <p:cNvSpPr txBox="1"/>
          <p:nvPr/>
        </p:nvSpPr>
        <p:spPr>
          <a:xfrm>
            <a:off x="6446520" y="2423160"/>
            <a:ext cx="4892040" cy="548640"/>
          </a:xfrm>
          <a:prstGeom prst="rect">
            <a:avLst/>
          </a:prstGeom>
          <a:noFill/>
          <a:ln/>
        </p:spPr>
        <p:txBody>
          <a:bodyPr wrap="square" lIns="0" tIns="0" rIns="0" bIns="0" rtlCol="0" anchor="ctr"/>
          <a:lstStyle/>
          <a:p>
            <a:pPr marL="0" indent="0">
              <a:buNone/>
            </a:pPr>
            <a:r>
              <a:rPr lang="en-US" sz="2400" b="1" dirty="0">
                <a:solidFill>
                  <a:schemeClr val="accent5"/>
                </a:solidFill>
                <a:latin typeface="+mj-lt"/>
                <a:ea typeface="Cambria" pitchFamily="34" charset="-122"/>
                <a:cs typeface="Cambria" pitchFamily="34" charset="-120"/>
              </a:rPr>
              <a:t>Breakdown</a:t>
            </a:r>
            <a:endParaRPr lang="en-US" sz="2400" dirty="0">
              <a:latin typeface="+mj-lt"/>
            </a:endParaRPr>
          </a:p>
        </p:txBody>
      </p:sp>
      <p:sp>
        <p:nvSpPr>
          <p:cNvPr id="9" name="Text 7">
            <a:extLst>
              <a:ext uri="{FF2B5EF4-FFF2-40B4-BE49-F238E27FC236}">
                <a16:creationId xmlns:a16="http://schemas.microsoft.com/office/drawing/2014/main" id="{AEDC95ED-DAEE-6FD1-6D54-07E08A167C51}"/>
              </a:ext>
            </a:extLst>
          </p:cNvPr>
          <p:cNvSpPr txBox="1"/>
          <p:nvPr/>
        </p:nvSpPr>
        <p:spPr>
          <a:xfrm>
            <a:off x="6446520" y="3017520"/>
            <a:ext cx="4892040" cy="1005840"/>
          </a:xfrm>
          <a:prstGeom prst="rect">
            <a:avLst/>
          </a:prstGeom>
          <a:noFill/>
          <a:ln/>
        </p:spPr>
        <p:txBody>
          <a:bodyPr wrap="square" lIns="0" tIns="0" rIns="0" bIns="0" rtlCol="0" anchor="t"/>
          <a:lstStyle/>
          <a:p>
            <a:pPr marL="0" indent="0">
              <a:buNone/>
            </a:pPr>
            <a:r>
              <a:rPr lang="en-US" sz="1600" b="1" dirty="0">
                <a:latin typeface="+mj-lt"/>
              </a:rPr>
              <a:t>Compared attrition levels of an employee sample based on various attributes</a:t>
            </a:r>
            <a:endParaRPr lang="en-US" sz="1600" dirty="0">
              <a:latin typeface="+mj-lt"/>
            </a:endParaRPr>
          </a:p>
        </p:txBody>
      </p:sp>
      <p:sp>
        <p:nvSpPr>
          <p:cNvPr id="10" name="Text 8">
            <a:extLst>
              <a:ext uri="{FF2B5EF4-FFF2-40B4-BE49-F238E27FC236}">
                <a16:creationId xmlns:a16="http://schemas.microsoft.com/office/drawing/2014/main" id="{E7D9404C-EAEB-799B-7778-F6E64388EA38}"/>
              </a:ext>
            </a:extLst>
          </p:cNvPr>
          <p:cNvSpPr txBox="1"/>
          <p:nvPr/>
        </p:nvSpPr>
        <p:spPr>
          <a:xfrm>
            <a:off x="6446520" y="4023360"/>
            <a:ext cx="4892040" cy="1097280"/>
          </a:xfrm>
          <a:prstGeom prst="rect">
            <a:avLst/>
          </a:prstGeom>
          <a:noFill/>
          <a:ln/>
        </p:spPr>
        <p:txBody>
          <a:bodyPr wrap="square" lIns="0" tIns="0" rIns="0" bIns="0" rtlCol="0" anchor="t"/>
          <a:lstStyle/>
          <a:p>
            <a:pPr marL="0" indent="0">
              <a:buNone/>
            </a:pPr>
            <a:r>
              <a:rPr lang="en-US" sz="1600" dirty="0">
                <a:latin typeface="+mj-lt"/>
              </a:rPr>
              <a:t>Created prediction models using the significant attributes</a:t>
            </a:r>
          </a:p>
        </p:txBody>
      </p:sp>
      <p:sp>
        <p:nvSpPr>
          <p:cNvPr id="25" name="Slide Number Placeholder 0">
            <a:extLst>
              <a:ext uri="{FF2B5EF4-FFF2-40B4-BE49-F238E27FC236}">
                <a16:creationId xmlns:a16="http://schemas.microsoft.com/office/drawing/2014/main" id="{0804D767-0E82-07F3-43FD-929FFD42765A}"/>
              </a:ext>
            </a:extLst>
          </p:cNvPr>
          <p:cNvSpPr>
            <a:spLocks noGrp="1"/>
          </p:cNvSpPr>
          <p:nvPr>
            <p:ph type="sldNum" sz="quarter" idx="4294967295"/>
          </p:nvPr>
        </p:nvSpPr>
        <p:spPr>
          <a:xfrm>
            <a:off x="11247120" y="713232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latin typeface="+mj-lt"/>
              </a:rPr>
              <a:t>2</a:t>
            </a:fld>
            <a:endParaRPr lang="en-US">
              <a:latin typeface="+mj-lt"/>
            </a:endParaRPr>
          </a:p>
        </p:txBody>
      </p:sp>
      <p:sp>
        <p:nvSpPr>
          <p:cNvPr id="13" name="Text 8">
            <a:extLst>
              <a:ext uri="{FF2B5EF4-FFF2-40B4-BE49-F238E27FC236}">
                <a16:creationId xmlns:a16="http://schemas.microsoft.com/office/drawing/2014/main" id="{C0C5A718-6702-D994-BD74-2C91953DCAE4}"/>
              </a:ext>
            </a:extLst>
          </p:cNvPr>
          <p:cNvSpPr txBox="1"/>
          <p:nvPr/>
        </p:nvSpPr>
        <p:spPr>
          <a:xfrm>
            <a:off x="853440" y="4251960"/>
            <a:ext cx="4892040" cy="1097280"/>
          </a:xfrm>
          <a:prstGeom prst="rect">
            <a:avLst/>
          </a:prstGeom>
          <a:noFill/>
          <a:ln/>
        </p:spPr>
        <p:txBody>
          <a:bodyPr wrap="square" lIns="0" tIns="0" rIns="0" bIns="0" rtlCol="0" anchor="t"/>
          <a:lstStyle/>
          <a:p>
            <a:pPr marL="0" indent="0">
              <a:buNone/>
            </a:pPr>
            <a:r>
              <a:rPr lang="en-US" sz="1600" dirty="0">
                <a:latin typeface="+mj-lt"/>
              </a:rPr>
              <a:t>The company loses money through people leaving and by giving unnecessary incentives</a:t>
            </a:r>
          </a:p>
        </p:txBody>
      </p:sp>
      <p:sp>
        <p:nvSpPr>
          <p:cNvPr id="14" name="Text 2">
            <a:extLst>
              <a:ext uri="{FF2B5EF4-FFF2-40B4-BE49-F238E27FC236}">
                <a16:creationId xmlns:a16="http://schemas.microsoft.com/office/drawing/2014/main" id="{659BE77B-3A23-FBBA-4547-647395816D25}"/>
              </a:ext>
            </a:extLst>
          </p:cNvPr>
          <p:cNvSpPr txBox="1"/>
          <p:nvPr/>
        </p:nvSpPr>
        <p:spPr>
          <a:xfrm>
            <a:off x="822960" y="1554480"/>
            <a:ext cx="4892040" cy="548640"/>
          </a:xfrm>
          <a:prstGeom prst="rect">
            <a:avLst/>
          </a:prstGeom>
          <a:noFill/>
          <a:ln/>
        </p:spPr>
        <p:txBody>
          <a:bodyPr wrap="square" lIns="0" tIns="0" rIns="0" bIns="0" rtlCol="0" anchor="ctr"/>
          <a:lstStyle/>
          <a:p>
            <a:pPr marL="0" indent="0">
              <a:buNone/>
            </a:pPr>
            <a:r>
              <a:rPr lang="en-US" sz="2400" b="1" dirty="0">
                <a:solidFill>
                  <a:schemeClr val="accent1"/>
                </a:solidFill>
                <a:latin typeface="+mj-lt"/>
                <a:ea typeface="Cambria" pitchFamily="34" charset="-122"/>
                <a:cs typeface="Cambria" pitchFamily="34" charset="-120"/>
              </a:rPr>
              <a:t>Why does this matter?</a:t>
            </a:r>
            <a:endParaRPr lang="en-US" sz="2400" dirty="0">
              <a:latin typeface="+mj-lt"/>
            </a:endParaRPr>
          </a:p>
        </p:txBody>
      </p:sp>
      <p:sp>
        <p:nvSpPr>
          <p:cNvPr id="15" name="Text 2">
            <a:extLst>
              <a:ext uri="{FF2B5EF4-FFF2-40B4-BE49-F238E27FC236}">
                <a16:creationId xmlns:a16="http://schemas.microsoft.com/office/drawing/2014/main" id="{DDE52ED7-4BCA-A984-259F-582D5E1D507B}"/>
              </a:ext>
            </a:extLst>
          </p:cNvPr>
          <p:cNvSpPr txBox="1"/>
          <p:nvPr/>
        </p:nvSpPr>
        <p:spPr>
          <a:xfrm>
            <a:off x="6477002" y="1554480"/>
            <a:ext cx="4892040" cy="548640"/>
          </a:xfrm>
          <a:prstGeom prst="rect">
            <a:avLst/>
          </a:prstGeom>
          <a:noFill/>
          <a:ln/>
        </p:spPr>
        <p:txBody>
          <a:bodyPr wrap="square" lIns="0" tIns="0" rIns="0" bIns="0" rtlCol="0" anchor="ctr"/>
          <a:lstStyle/>
          <a:p>
            <a:pPr marL="0" indent="0">
              <a:buNone/>
            </a:pPr>
            <a:r>
              <a:rPr lang="en-US" sz="2400" b="1" dirty="0">
                <a:solidFill>
                  <a:schemeClr val="accent1"/>
                </a:solidFill>
                <a:latin typeface="+mj-lt"/>
                <a:ea typeface="Cambria" pitchFamily="34" charset="-122"/>
                <a:cs typeface="Cambria" pitchFamily="34" charset="-120"/>
              </a:rPr>
              <a:t>How will I answer the question?</a:t>
            </a:r>
            <a:endParaRPr lang="en-US" sz="2400" dirty="0">
              <a:latin typeface="+mj-lt"/>
            </a:endParaRPr>
          </a:p>
        </p:txBody>
      </p:sp>
    </p:spTree>
    <p:extLst>
      <p:ext uri="{BB962C8B-B14F-4D97-AF65-F5344CB8AC3E}">
        <p14:creationId xmlns:p14="http://schemas.microsoft.com/office/powerpoint/2010/main" val="1108090028"/>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animBg="1"/>
      <p:bldP spid="9" grpId="0" animBg="1"/>
      <p:bldP spid="10" grpId="0" animBg="1"/>
      <p:bldP spid="1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12" name="Shape 1">
            <a:extLst>
              <a:ext uri="{FF2B5EF4-FFF2-40B4-BE49-F238E27FC236}">
                <a16:creationId xmlns:a16="http://schemas.microsoft.com/office/drawing/2014/main" id="{65B696C2-4E81-0359-E14A-A260A349F616}"/>
              </a:ext>
            </a:extLst>
          </p:cNvPr>
          <p:cNvSpPr/>
          <p:nvPr/>
        </p:nvSpPr>
        <p:spPr>
          <a:xfrm>
            <a:off x="5738706" y="1852506"/>
            <a:ext cx="5056293" cy="3771053"/>
          </a:xfrm>
          <a:prstGeom prst="roundRect">
            <a:avLst>
              <a:gd name="adj" fmla="val 3636"/>
            </a:avLst>
          </a:prstGeom>
          <a:solidFill>
            <a:schemeClr val="bg2"/>
          </a:solidFill>
          <a:ln w="12700">
            <a:solidFill>
              <a:schemeClr val="bg2"/>
            </a:solidFill>
            <a:prstDash val="solid"/>
          </a:ln>
        </p:spPr>
        <p:txBody>
          <a:bodyPr/>
          <a:lstStyle/>
          <a:p>
            <a:endParaRPr lang="en-US">
              <a:latin typeface="+mj-lt"/>
            </a:endParaRPr>
          </a:p>
        </p:txBody>
      </p:sp>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buNone/>
            </a:pPr>
            <a:r>
              <a:rPr lang="en-US" sz="3200" b="1" dirty="0">
                <a:solidFill>
                  <a:schemeClr val="tx1"/>
                </a:solidFill>
              </a:rPr>
              <a:t>Sample Attrition</a:t>
            </a:r>
            <a:endParaRPr lang="en-US" sz="3200" dirty="0"/>
          </a:p>
        </p:txBody>
      </p:sp>
      <p:sp>
        <p:nvSpPr>
          <p:cNvPr id="3" name="Shape 1"/>
          <p:cNvSpPr/>
          <p:nvPr/>
        </p:nvSpPr>
        <p:spPr>
          <a:xfrm>
            <a:off x="548640" y="1463040"/>
            <a:ext cx="4206240" cy="2011680"/>
          </a:xfrm>
          <a:prstGeom prst="roundRect">
            <a:avLst>
              <a:gd name="adj" fmla="val 3636"/>
            </a:avLst>
          </a:prstGeom>
          <a:solidFill>
            <a:schemeClr val="bg2"/>
          </a:solidFill>
          <a:ln w="12700">
            <a:solidFill>
              <a:schemeClr val="bg2"/>
            </a:solidFill>
            <a:prstDash val="solid"/>
          </a:ln>
        </p:spPr>
        <p:txBody>
          <a:bodyPr/>
          <a:lstStyle/>
          <a:p>
            <a:endParaRPr lang="en-US">
              <a:latin typeface="+mj-lt"/>
            </a:endParaRPr>
          </a:p>
        </p:txBody>
      </p:sp>
      <p:sp>
        <p:nvSpPr>
          <p:cNvPr id="4" name="Text 2"/>
          <p:cNvSpPr txBox="1"/>
          <p:nvPr/>
        </p:nvSpPr>
        <p:spPr>
          <a:xfrm>
            <a:off x="822960" y="1645920"/>
            <a:ext cx="3657600" cy="1005840"/>
          </a:xfrm>
          <a:prstGeom prst="rect">
            <a:avLst/>
          </a:prstGeom>
          <a:noFill/>
          <a:ln/>
        </p:spPr>
        <p:txBody>
          <a:bodyPr wrap="square" lIns="0" tIns="0" rIns="0" bIns="0" rtlCol="0" anchor="b"/>
          <a:lstStyle/>
          <a:p>
            <a:pPr marL="0" indent="0">
              <a:buNone/>
            </a:pPr>
            <a:r>
              <a:rPr lang="en-US" sz="4000" b="1" dirty="0">
                <a:solidFill>
                  <a:schemeClr val="accent5"/>
                </a:solidFill>
                <a:latin typeface="+mj-lt"/>
                <a:ea typeface="Cambria" pitchFamily="34" charset="-122"/>
                <a:cs typeface="Cambria" pitchFamily="34" charset="-120"/>
              </a:rPr>
              <a:t>730  |  83.9%</a:t>
            </a:r>
            <a:endParaRPr lang="en-US" sz="4000" dirty="0">
              <a:latin typeface="+mj-lt"/>
            </a:endParaRPr>
          </a:p>
        </p:txBody>
      </p:sp>
      <p:sp>
        <p:nvSpPr>
          <p:cNvPr id="5" name="Text 3"/>
          <p:cNvSpPr txBox="1"/>
          <p:nvPr/>
        </p:nvSpPr>
        <p:spPr>
          <a:xfrm>
            <a:off x="822960" y="2651760"/>
            <a:ext cx="3657600" cy="685800"/>
          </a:xfrm>
          <a:prstGeom prst="rect">
            <a:avLst/>
          </a:prstGeom>
          <a:noFill/>
          <a:ln/>
        </p:spPr>
        <p:txBody>
          <a:bodyPr wrap="square" lIns="0" tIns="0" rIns="0" bIns="0" rtlCol="0" anchor="t"/>
          <a:lstStyle/>
          <a:p>
            <a:pPr marL="0" indent="0">
              <a:buNone/>
            </a:pPr>
            <a:r>
              <a:rPr lang="en-US" sz="1500" dirty="0">
                <a:solidFill>
                  <a:schemeClr val="tx1"/>
                </a:solidFill>
                <a:latin typeface="+mj-lt"/>
              </a:rPr>
              <a:t>employees stayed (Attrition = No)</a:t>
            </a:r>
            <a:endParaRPr lang="en-US" sz="1500" dirty="0">
              <a:latin typeface="+mj-lt"/>
            </a:endParaRPr>
          </a:p>
        </p:txBody>
      </p:sp>
      <p:sp>
        <p:nvSpPr>
          <p:cNvPr id="6" name="Shape 4"/>
          <p:cNvSpPr/>
          <p:nvPr/>
        </p:nvSpPr>
        <p:spPr>
          <a:xfrm>
            <a:off x="548640" y="3749040"/>
            <a:ext cx="4206240" cy="2011680"/>
          </a:xfrm>
          <a:prstGeom prst="roundRect">
            <a:avLst>
              <a:gd name="adj" fmla="val 3636"/>
            </a:avLst>
          </a:prstGeom>
          <a:solidFill>
            <a:schemeClr val="bg2"/>
          </a:solidFill>
          <a:ln w="12700">
            <a:solidFill>
              <a:schemeClr val="bg2"/>
            </a:solidFill>
            <a:prstDash val="solid"/>
          </a:ln>
        </p:spPr>
        <p:txBody>
          <a:bodyPr/>
          <a:lstStyle/>
          <a:p>
            <a:endParaRPr lang="en-US">
              <a:latin typeface="+mj-lt"/>
            </a:endParaRPr>
          </a:p>
        </p:txBody>
      </p:sp>
      <p:sp>
        <p:nvSpPr>
          <p:cNvPr id="7" name="Text 5"/>
          <p:cNvSpPr txBox="1"/>
          <p:nvPr/>
        </p:nvSpPr>
        <p:spPr>
          <a:xfrm>
            <a:off x="822960" y="3931920"/>
            <a:ext cx="3657600" cy="1005840"/>
          </a:xfrm>
          <a:prstGeom prst="rect">
            <a:avLst/>
          </a:prstGeom>
          <a:noFill/>
          <a:ln/>
        </p:spPr>
        <p:txBody>
          <a:bodyPr wrap="square" lIns="0" tIns="0" rIns="0" bIns="0" rtlCol="0" anchor="b"/>
          <a:lstStyle/>
          <a:p>
            <a:pPr marL="0" indent="0">
              <a:buNone/>
            </a:pPr>
            <a:r>
              <a:rPr lang="en-US" sz="4000" b="1" dirty="0">
                <a:solidFill>
                  <a:schemeClr val="accent1"/>
                </a:solidFill>
                <a:latin typeface="+mj-lt"/>
                <a:ea typeface="Cambria" pitchFamily="34" charset="-122"/>
                <a:cs typeface="Cambria" pitchFamily="34" charset="-120"/>
              </a:rPr>
              <a:t>140  |  16.1%</a:t>
            </a:r>
            <a:endParaRPr lang="en-US" sz="4000" dirty="0">
              <a:latin typeface="+mj-lt"/>
            </a:endParaRPr>
          </a:p>
        </p:txBody>
      </p:sp>
      <p:sp>
        <p:nvSpPr>
          <p:cNvPr id="8" name="Text 6"/>
          <p:cNvSpPr txBox="1"/>
          <p:nvPr/>
        </p:nvSpPr>
        <p:spPr>
          <a:xfrm>
            <a:off x="822960" y="4937760"/>
            <a:ext cx="3657600" cy="685800"/>
          </a:xfrm>
          <a:prstGeom prst="rect">
            <a:avLst/>
          </a:prstGeom>
          <a:noFill/>
          <a:ln/>
        </p:spPr>
        <p:txBody>
          <a:bodyPr wrap="square" lIns="0" tIns="0" rIns="0" bIns="0" rtlCol="0" anchor="t"/>
          <a:lstStyle/>
          <a:p>
            <a:pPr marL="0" indent="0">
              <a:buNone/>
            </a:pPr>
            <a:r>
              <a:rPr lang="en-US" sz="1500" dirty="0">
                <a:solidFill>
                  <a:schemeClr val="tx1"/>
                </a:solidFill>
                <a:latin typeface="+mj-lt"/>
              </a:rPr>
              <a:t>employees left (Attrition = Yes)</a:t>
            </a:r>
            <a:endParaRPr lang="en-US" sz="1500" dirty="0">
              <a:latin typeface="+mj-lt"/>
            </a:endParaRPr>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latin typeface="+mj-lt"/>
              </a:rPr>
              <a:t>3</a:t>
            </a:fld>
            <a:endParaRPr lang="en-US">
              <a:latin typeface="+mj-lt"/>
            </a:endParaRPr>
          </a:p>
        </p:txBody>
      </p:sp>
      <p:pic>
        <p:nvPicPr>
          <p:cNvPr id="11" name="Picture 10">
            <a:extLst>
              <a:ext uri="{FF2B5EF4-FFF2-40B4-BE49-F238E27FC236}">
                <a16:creationId xmlns:a16="http://schemas.microsoft.com/office/drawing/2014/main" id="{8EFF94C6-9FE5-F053-F16E-EFF4ED9B86A3}"/>
              </a:ext>
            </a:extLst>
          </p:cNvPr>
          <p:cNvPicPr>
            <a:picLocks noChangeAspect="1"/>
          </p:cNvPicPr>
          <p:nvPr/>
        </p:nvPicPr>
        <p:blipFill>
          <a:blip r:embed="rId3"/>
          <a:stretch>
            <a:fillRect/>
          </a:stretch>
        </p:blipFill>
        <p:spPr>
          <a:xfrm>
            <a:off x="5242513" y="1485883"/>
            <a:ext cx="6400847" cy="4572033"/>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hape 7">
            <a:extLst>
              <a:ext uri="{FF2B5EF4-FFF2-40B4-BE49-F238E27FC236}">
                <a16:creationId xmlns:a16="http://schemas.microsoft.com/office/drawing/2014/main" id="{8E230532-4460-CD9E-B108-8590AC024205}"/>
              </a:ext>
            </a:extLst>
          </p:cNvPr>
          <p:cNvSpPr/>
          <p:nvPr/>
        </p:nvSpPr>
        <p:spPr>
          <a:xfrm>
            <a:off x="548640" y="4937760"/>
            <a:ext cx="11064240" cy="1097280"/>
          </a:xfrm>
          <a:prstGeom prst="roundRect">
            <a:avLst>
              <a:gd name="adj" fmla="val 6667"/>
            </a:avLst>
          </a:prstGeom>
          <a:solidFill>
            <a:schemeClr val="tx1"/>
          </a:solidFill>
          <a:ln w="12700">
            <a:solidFill>
              <a:schemeClr val="tx1"/>
            </a:solidFill>
            <a:prstDash val="solid"/>
          </a:ln>
        </p:spPr>
        <p:txBody>
          <a:bodyPr/>
          <a:lstStyle/>
          <a:p>
            <a:endParaRPr lang="en-US">
              <a:latin typeface="+mj-lt"/>
            </a:endParaRPr>
          </a:p>
        </p:txBody>
      </p:sp>
      <p:sp>
        <p:nvSpPr>
          <p:cNvPr id="2" name="Title 1">
            <a:extLst>
              <a:ext uri="{FF2B5EF4-FFF2-40B4-BE49-F238E27FC236}">
                <a16:creationId xmlns:a16="http://schemas.microsoft.com/office/drawing/2014/main" id="{939239BA-B302-B815-696F-43DB36437EB5}"/>
              </a:ext>
            </a:extLst>
          </p:cNvPr>
          <p:cNvSpPr>
            <a:spLocks noGrp="1"/>
          </p:cNvSpPr>
          <p:nvPr>
            <p:ph type="title" idx="100"/>
          </p:nvPr>
        </p:nvSpPr>
        <p:spPr/>
        <p:txBody>
          <a:bodyPr/>
          <a:lstStyle/>
          <a:p>
            <a:r>
              <a:rPr lang="en-US" dirty="0"/>
              <a:t>Data Breakdown</a:t>
            </a:r>
          </a:p>
        </p:txBody>
      </p:sp>
      <p:sp>
        <p:nvSpPr>
          <p:cNvPr id="5" name="Shape 1">
            <a:extLst>
              <a:ext uri="{FF2B5EF4-FFF2-40B4-BE49-F238E27FC236}">
                <a16:creationId xmlns:a16="http://schemas.microsoft.com/office/drawing/2014/main" id="{54C2B104-0C50-679F-8491-13D010366F4B}"/>
              </a:ext>
            </a:extLst>
          </p:cNvPr>
          <p:cNvSpPr/>
          <p:nvPr/>
        </p:nvSpPr>
        <p:spPr>
          <a:xfrm>
            <a:off x="1809549" y="2355650"/>
            <a:ext cx="3200400" cy="2011680"/>
          </a:xfrm>
          <a:prstGeom prst="roundRect">
            <a:avLst>
              <a:gd name="adj" fmla="val 3636"/>
            </a:avLst>
          </a:prstGeom>
          <a:solidFill>
            <a:schemeClr val="bg2"/>
          </a:solidFill>
          <a:ln w="12700">
            <a:solidFill>
              <a:schemeClr val="bg2"/>
            </a:solidFill>
            <a:prstDash val="solid"/>
          </a:ln>
        </p:spPr>
        <p:txBody>
          <a:bodyPr/>
          <a:lstStyle/>
          <a:p>
            <a:endParaRPr lang="en-US">
              <a:latin typeface="+mj-lt"/>
            </a:endParaRPr>
          </a:p>
        </p:txBody>
      </p:sp>
      <p:sp>
        <p:nvSpPr>
          <p:cNvPr id="7" name="Text 2">
            <a:extLst>
              <a:ext uri="{FF2B5EF4-FFF2-40B4-BE49-F238E27FC236}">
                <a16:creationId xmlns:a16="http://schemas.microsoft.com/office/drawing/2014/main" id="{70790ED4-9016-80D5-3582-01AE629F7AB9}"/>
              </a:ext>
            </a:extLst>
          </p:cNvPr>
          <p:cNvSpPr txBox="1"/>
          <p:nvPr/>
        </p:nvSpPr>
        <p:spPr>
          <a:xfrm>
            <a:off x="2083869" y="2538530"/>
            <a:ext cx="2651760" cy="1005840"/>
          </a:xfrm>
          <a:prstGeom prst="rect">
            <a:avLst/>
          </a:prstGeom>
          <a:noFill/>
          <a:ln/>
        </p:spPr>
        <p:txBody>
          <a:bodyPr wrap="square" lIns="0" tIns="0" rIns="0" bIns="0" rtlCol="0" anchor="b"/>
          <a:lstStyle/>
          <a:p>
            <a:pPr marL="0" indent="0">
              <a:buNone/>
            </a:pPr>
            <a:r>
              <a:rPr lang="en-US" sz="4000" b="1" dirty="0">
                <a:solidFill>
                  <a:schemeClr val="accent1"/>
                </a:solidFill>
                <a:latin typeface="+mj-lt"/>
                <a:ea typeface="Cambria" pitchFamily="34" charset="-122"/>
                <a:cs typeface="Cambria" pitchFamily="34" charset="-120"/>
              </a:rPr>
              <a:t>35</a:t>
            </a:r>
            <a:endParaRPr lang="en-US" sz="4000" dirty="0">
              <a:latin typeface="+mj-lt"/>
            </a:endParaRPr>
          </a:p>
        </p:txBody>
      </p:sp>
      <p:sp>
        <p:nvSpPr>
          <p:cNvPr id="9" name="Text 3">
            <a:extLst>
              <a:ext uri="{FF2B5EF4-FFF2-40B4-BE49-F238E27FC236}">
                <a16:creationId xmlns:a16="http://schemas.microsoft.com/office/drawing/2014/main" id="{7EC1F13D-9904-9666-309F-6F59BEA75E12}"/>
              </a:ext>
            </a:extLst>
          </p:cNvPr>
          <p:cNvSpPr txBox="1"/>
          <p:nvPr/>
        </p:nvSpPr>
        <p:spPr>
          <a:xfrm>
            <a:off x="2083869" y="3544370"/>
            <a:ext cx="2651760" cy="685800"/>
          </a:xfrm>
          <a:prstGeom prst="rect">
            <a:avLst/>
          </a:prstGeom>
          <a:noFill/>
          <a:ln/>
        </p:spPr>
        <p:txBody>
          <a:bodyPr wrap="square" lIns="0" tIns="0" rIns="0" bIns="0" rtlCol="0" anchor="t"/>
          <a:lstStyle/>
          <a:p>
            <a:pPr marL="0" indent="0">
              <a:buNone/>
            </a:pPr>
            <a:r>
              <a:rPr lang="en-US" sz="1500" dirty="0">
                <a:solidFill>
                  <a:schemeClr val="tx1"/>
                </a:solidFill>
                <a:latin typeface="+mj-lt"/>
              </a:rPr>
              <a:t>Unique Features</a:t>
            </a:r>
            <a:endParaRPr lang="en-US" sz="1500" dirty="0">
              <a:latin typeface="+mj-lt"/>
            </a:endParaRPr>
          </a:p>
        </p:txBody>
      </p:sp>
      <p:sp>
        <p:nvSpPr>
          <p:cNvPr id="17" name="Shape 1">
            <a:extLst>
              <a:ext uri="{FF2B5EF4-FFF2-40B4-BE49-F238E27FC236}">
                <a16:creationId xmlns:a16="http://schemas.microsoft.com/office/drawing/2014/main" id="{1C9C49AB-2592-2A72-A3F3-6AC144050B52}"/>
              </a:ext>
            </a:extLst>
          </p:cNvPr>
          <p:cNvSpPr/>
          <p:nvPr/>
        </p:nvSpPr>
        <p:spPr>
          <a:xfrm>
            <a:off x="7182051" y="2355650"/>
            <a:ext cx="3200400" cy="2011680"/>
          </a:xfrm>
          <a:prstGeom prst="roundRect">
            <a:avLst>
              <a:gd name="adj" fmla="val 3636"/>
            </a:avLst>
          </a:prstGeom>
          <a:solidFill>
            <a:schemeClr val="bg2"/>
          </a:solidFill>
          <a:ln w="12700">
            <a:solidFill>
              <a:schemeClr val="bg2"/>
            </a:solidFill>
            <a:prstDash val="solid"/>
          </a:ln>
        </p:spPr>
        <p:txBody>
          <a:bodyPr/>
          <a:lstStyle/>
          <a:p>
            <a:endParaRPr lang="en-US">
              <a:latin typeface="+mj-lt"/>
            </a:endParaRPr>
          </a:p>
        </p:txBody>
      </p:sp>
      <p:sp>
        <p:nvSpPr>
          <p:cNvPr id="19" name="Text 2">
            <a:extLst>
              <a:ext uri="{FF2B5EF4-FFF2-40B4-BE49-F238E27FC236}">
                <a16:creationId xmlns:a16="http://schemas.microsoft.com/office/drawing/2014/main" id="{950BC73E-3753-D825-921C-6E9887493B5C}"/>
              </a:ext>
            </a:extLst>
          </p:cNvPr>
          <p:cNvSpPr txBox="1"/>
          <p:nvPr/>
        </p:nvSpPr>
        <p:spPr>
          <a:xfrm>
            <a:off x="7456371" y="2538530"/>
            <a:ext cx="2651760" cy="1005840"/>
          </a:xfrm>
          <a:prstGeom prst="rect">
            <a:avLst/>
          </a:prstGeom>
          <a:noFill/>
          <a:ln/>
        </p:spPr>
        <p:txBody>
          <a:bodyPr wrap="square" lIns="0" tIns="0" rIns="0" bIns="0" rtlCol="0" anchor="b"/>
          <a:lstStyle/>
          <a:p>
            <a:pPr marL="0" indent="0">
              <a:buNone/>
            </a:pPr>
            <a:r>
              <a:rPr lang="en-US" sz="4000" b="1" dirty="0">
                <a:solidFill>
                  <a:schemeClr val="accent1"/>
                </a:solidFill>
                <a:latin typeface="+mj-lt"/>
                <a:ea typeface="Cambria" pitchFamily="34" charset="-122"/>
                <a:cs typeface="Cambria" pitchFamily="34" charset="-120"/>
              </a:rPr>
              <a:t>18</a:t>
            </a:r>
            <a:endParaRPr lang="en-US" sz="4000" dirty="0">
              <a:latin typeface="+mj-lt"/>
            </a:endParaRPr>
          </a:p>
        </p:txBody>
      </p:sp>
      <p:sp>
        <p:nvSpPr>
          <p:cNvPr id="21" name="Text 3">
            <a:extLst>
              <a:ext uri="{FF2B5EF4-FFF2-40B4-BE49-F238E27FC236}">
                <a16:creationId xmlns:a16="http://schemas.microsoft.com/office/drawing/2014/main" id="{841DE24C-A281-19A2-8682-BD5D8D3F4250}"/>
              </a:ext>
            </a:extLst>
          </p:cNvPr>
          <p:cNvSpPr txBox="1"/>
          <p:nvPr/>
        </p:nvSpPr>
        <p:spPr>
          <a:xfrm>
            <a:off x="7456371" y="3544370"/>
            <a:ext cx="2651760" cy="685800"/>
          </a:xfrm>
          <a:prstGeom prst="rect">
            <a:avLst/>
          </a:prstGeom>
          <a:noFill/>
          <a:ln/>
        </p:spPr>
        <p:txBody>
          <a:bodyPr wrap="square" lIns="0" tIns="0" rIns="0" bIns="0" rtlCol="0" anchor="t"/>
          <a:lstStyle/>
          <a:p>
            <a:pPr marL="0" indent="0">
              <a:buNone/>
            </a:pPr>
            <a:r>
              <a:rPr lang="en-US" sz="1500" dirty="0">
                <a:solidFill>
                  <a:schemeClr val="tx1"/>
                </a:solidFill>
                <a:latin typeface="+mj-lt"/>
              </a:rPr>
              <a:t>Unique Features</a:t>
            </a:r>
            <a:endParaRPr lang="en-US" sz="1500" dirty="0">
              <a:latin typeface="+mj-lt"/>
            </a:endParaRPr>
          </a:p>
        </p:txBody>
      </p:sp>
      <p:sp>
        <p:nvSpPr>
          <p:cNvPr id="22" name="Arrow: Right 21">
            <a:extLst>
              <a:ext uri="{FF2B5EF4-FFF2-40B4-BE49-F238E27FC236}">
                <a16:creationId xmlns:a16="http://schemas.microsoft.com/office/drawing/2014/main" id="{769092DA-8220-EEAE-4FD8-DB7316A94A0A}"/>
              </a:ext>
            </a:extLst>
          </p:cNvPr>
          <p:cNvSpPr/>
          <p:nvPr/>
        </p:nvSpPr>
        <p:spPr>
          <a:xfrm>
            <a:off x="5550568" y="3022600"/>
            <a:ext cx="1187116" cy="67777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24" name="Title 1">
            <a:extLst>
              <a:ext uri="{FF2B5EF4-FFF2-40B4-BE49-F238E27FC236}">
                <a16:creationId xmlns:a16="http://schemas.microsoft.com/office/drawing/2014/main" id="{3675727F-873B-2853-9371-D239A07AD85F}"/>
              </a:ext>
            </a:extLst>
          </p:cNvPr>
          <p:cNvSpPr txBox="1">
            <a:spLocks/>
          </p:cNvSpPr>
          <p:nvPr/>
        </p:nvSpPr>
        <p:spPr>
          <a:xfrm>
            <a:off x="1809549" y="1558090"/>
            <a:ext cx="11064240" cy="822960"/>
          </a:xfrm>
          <a:prstGeom prst="rect">
            <a:avLst/>
          </a:prstGeom>
          <a:noFill/>
          <a:ln/>
        </p:spPr>
        <p:txBody>
          <a:bodyPr wrap="square" rtlCol="0"/>
          <a:lstStyle>
            <a:lvl1pPr marL="0" indent="0" algn="ctr" defTabSz="914400" rtl="0" eaLnBrk="1" latinLnBrk="0" hangingPunct="1">
              <a:spcBef>
                <a:spcPct val="0"/>
              </a:spcBef>
              <a:buNone/>
              <a:defRPr lang="en-US" sz="3200" b="1" kern="1200" dirty="0">
                <a:solidFill>
                  <a:schemeClr val="tx1"/>
                </a:solidFill>
                <a:latin typeface="+mj-lt"/>
                <a:ea typeface="+mj-ea"/>
                <a:cs typeface="+mj-cs"/>
              </a:defRPr>
            </a:lvl1pPr>
          </a:lstStyle>
          <a:p>
            <a:pPr algn="l"/>
            <a:r>
              <a:rPr lang="en-US" sz="2400" dirty="0"/>
              <a:t>What are we working with?</a:t>
            </a:r>
          </a:p>
          <a:p>
            <a:endParaRPr lang="en-US" dirty="0"/>
          </a:p>
        </p:txBody>
      </p:sp>
      <p:sp>
        <p:nvSpPr>
          <p:cNvPr id="32" name="Text 8">
            <a:extLst>
              <a:ext uri="{FF2B5EF4-FFF2-40B4-BE49-F238E27FC236}">
                <a16:creationId xmlns:a16="http://schemas.microsoft.com/office/drawing/2014/main" id="{2375929C-CF46-A73B-42CE-60F637FED2A5}"/>
              </a:ext>
            </a:extLst>
          </p:cNvPr>
          <p:cNvSpPr txBox="1"/>
          <p:nvPr/>
        </p:nvSpPr>
        <p:spPr>
          <a:xfrm>
            <a:off x="822960" y="5029200"/>
            <a:ext cx="10515600" cy="914400"/>
          </a:xfrm>
          <a:prstGeom prst="rect">
            <a:avLst/>
          </a:prstGeom>
          <a:noFill/>
          <a:ln/>
        </p:spPr>
        <p:txBody>
          <a:bodyPr wrap="square" lIns="0" tIns="0" rIns="0" bIns="0" rtlCol="0" anchor="ctr"/>
          <a:lstStyle/>
          <a:p>
            <a:r>
              <a:rPr lang="en-US" sz="1600" dirty="0">
                <a:solidFill>
                  <a:schemeClr val="bg1"/>
                </a:solidFill>
                <a:latin typeface="+mj-lt"/>
              </a:rPr>
              <a:t>A combination of categorical and numerical features. I had to determine which were relevant to attrition. 12 features filter out (p&gt;0.05) including Gender, Performance Rating, Years Since Last Promotion, etc.</a:t>
            </a:r>
          </a:p>
          <a:p>
            <a:pPr marL="0" indent="0">
              <a:buNone/>
            </a:pPr>
            <a:endParaRPr lang="en-US" sz="1600" dirty="0">
              <a:latin typeface="+mj-lt"/>
            </a:endParaRPr>
          </a:p>
        </p:txBody>
      </p:sp>
      <p:sp>
        <p:nvSpPr>
          <p:cNvPr id="34" name="Text 7">
            <a:extLst>
              <a:ext uri="{FF2B5EF4-FFF2-40B4-BE49-F238E27FC236}">
                <a16:creationId xmlns:a16="http://schemas.microsoft.com/office/drawing/2014/main" id="{94B7A373-AD69-E0F0-45C5-0F1DE5FF5988}"/>
              </a:ext>
            </a:extLst>
          </p:cNvPr>
          <p:cNvSpPr txBox="1"/>
          <p:nvPr/>
        </p:nvSpPr>
        <p:spPr>
          <a:xfrm>
            <a:off x="548640" y="6263640"/>
            <a:ext cx="10424160" cy="365760"/>
          </a:xfrm>
          <a:prstGeom prst="rect">
            <a:avLst/>
          </a:prstGeom>
          <a:noFill/>
          <a:ln/>
        </p:spPr>
        <p:txBody>
          <a:bodyPr wrap="square" lIns="0" tIns="0" rIns="0" bIns="0" rtlCol="0" anchor="ctr"/>
          <a:lstStyle/>
          <a:p>
            <a:pPr marL="0" indent="0">
              <a:buNone/>
            </a:pPr>
            <a:r>
              <a:rPr lang="en-US" sz="1100" i="1" dirty="0">
                <a:solidFill>
                  <a:schemeClr val="tx2"/>
                </a:solidFill>
                <a:latin typeface="+mj-lt"/>
              </a:rPr>
              <a:t>Note: </a:t>
            </a:r>
            <a:r>
              <a:rPr lang="en-US" sz="1100" i="1" dirty="0" err="1">
                <a:solidFill>
                  <a:schemeClr val="tx2"/>
                </a:solidFill>
                <a:latin typeface="+mj-lt"/>
              </a:rPr>
              <a:t>EmployeeCount</a:t>
            </a:r>
            <a:r>
              <a:rPr lang="en-US" sz="1100" i="1" dirty="0">
                <a:solidFill>
                  <a:schemeClr val="tx2"/>
                </a:solidFill>
                <a:latin typeface="+mj-lt"/>
              </a:rPr>
              <a:t>, Over18 and StandardHours were constant and removed.</a:t>
            </a:r>
            <a:endParaRPr lang="en-US" sz="1100" dirty="0">
              <a:latin typeface="+mj-lt"/>
            </a:endParaRPr>
          </a:p>
        </p:txBody>
      </p:sp>
    </p:spTree>
    <p:extLst>
      <p:ext uri="{BB962C8B-B14F-4D97-AF65-F5344CB8AC3E}">
        <p14:creationId xmlns:p14="http://schemas.microsoft.com/office/powerpoint/2010/main" val="3746979489"/>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P spid="2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12" name="Shape 1">
            <a:extLst>
              <a:ext uri="{FF2B5EF4-FFF2-40B4-BE49-F238E27FC236}">
                <a16:creationId xmlns:a16="http://schemas.microsoft.com/office/drawing/2014/main" id="{AC93F327-DECC-721D-C2DF-1EEC508F3BF9}"/>
              </a:ext>
            </a:extLst>
          </p:cNvPr>
          <p:cNvSpPr/>
          <p:nvPr/>
        </p:nvSpPr>
        <p:spPr>
          <a:xfrm>
            <a:off x="5740400" y="1808480"/>
            <a:ext cx="5628641" cy="3815080"/>
          </a:xfrm>
          <a:prstGeom prst="roundRect">
            <a:avLst>
              <a:gd name="adj" fmla="val 3636"/>
            </a:avLst>
          </a:prstGeom>
          <a:solidFill>
            <a:schemeClr val="bg2"/>
          </a:solidFill>
          <a:ln w="12700">
            <a:solidFill>
              <a:schemeClr val="bg2"/>
            </a:solidFill>
            <a:prstDash val="solid"/>
          </a:ln>
        </p:spPr>
        <p:txBody>
          <a:bodyPr/>
          <a:lstStyle/>
          <a:p>
            <a:endParaRPr lang="en-US">
              <a:latin typeface="+mj-lt"/>
            </a:endParaRPr>
          </a:p>
        </p:txBody>
      </p:sp>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buNone/>
            </a:pPr>
            <a:r>
              <a:rPr lang="en-US" sz="3200" b="1" dirty="0">
                <a:solidFill>
                  <a:schemeClr val="tx1"/>
                </a:solidFill>
              </a:rPr>
              <a:t>Top Factor 1: Overtime Workers</a:t>
            </a:r>
            <a:endParaRPr lang="en-US" sz="3200" dirty="0"/>
          </a:p>
        </p:txBody>
      </p:sp>
      <p:sp>
        <p:nvSpPr>
          <p:cNvPr id="3" name="Shape 1"/>
          <p:cNvSpPr/>
          <p:nvPr/>
        </p:nvSpPr>
        <p:spPr>
          <a:xfrm>
            <a:off x="548640" y="1463040"/>
            <a:ext cx="4206240" cy="2011680"/>
          </a:xfrm>
          <a:prstGeom prst="roundRect">
            <a:avLst>
              <a:gd name="adj" fmla="val 3636"/>
            </a:avLst>
          </a:prstGeom>
          <a:solidFill>
            <a:schemeClr val="bg2"/>
          </a:solidFill>
          <a:ln w="12700">
            <a:solidFill>
              <a:schemeClr val="bg2"/>
            </a:solidFill>
            <a:prstDash val="solid"/>
          </a:ln>
        </p:spPr>
        <p:txBody>
          <a:bodyPr/>
          <a:lstStyle/>
          <a:p>
            <a:endParaRPr lang="en-US">
              <a:latin typeface="+mj-lt"/>
            </a:endParaRPr>
          </a:p>
        </p:txBody>
      </p:sp>
      <p:sp>
        <p:nvSpPr>
          <p:cNvPr id="4" name="Text 2"/>
          <p:cNvSpPr txBox="1"/>
          <p:nvPr/>
        </p:nvSpPr>
        <p:spPr>
          <a:xfrm>
            <a:off x="822960" y="1645920"/>
            <a:ext cx="3657600" cy="1005840"/>
          </a:xfrm>
          <a:prstGeom prst="rect">
            <a:avLst/>
          </a:prstGeom>
          <a:noFill/>
          <a:ln/>
        </p:spPr>
        <p:txBody>
          <a:bodyPr wrap="square" lIns="0" tIns="0" rIns="0" bIns="0" rtlCol="0" anchor="b"/>
          <a:lstStyle/>
          <a:p>
            <a:pPr marL="0" indent="0">
              <a:buNone/>
            </a:pPr>
            <a:r>
              <a:rPr lang="en-US" sz="4000" b="1" dirty="0">
                <a:solidFill>
                  <a:schemeClr val="accent1"/>
                </a:solidFill>
                <a:latin typeface="+mj-lt"/>
                <a:ea typeface="Cambria" pitchFamily="34" charset="-122"/>
                <a:cs typeface="Cambria" pitchFamily="34" charset="-120"/>
              </a:rPr>
              <a:t>31.7%</a:t>
            </a:r>
            <a:endParaRPr lang="en-US" sz="4000" dirty="0">
              <a:latin typeface="+mj-lt"/>
            </a:endParaRPr>
          </a:p>
        </p:txBody>
      </p:sp>
      <p:sp>
        <p:nvSpPr>
          <p:cNvPr id="5" name="Text 3"/>
          <p:cNvSpPr txBox="1"/>
          <p:nvPr/>
        </p:nvSpPr>
        <p:spPr>
          <a:xfrm>
            <a:off x="822960" y="2651760"/>
            <a:ext cx="3657600" cy="685800"/>
          </a:xfrm>
          <a:prstGeom prst="rect">
            <a:avLst/>
          </a:prstGeom>
          <a:noFill/>
          <a:ln/>
        </p:spPr>
        <p:txBody>
          <a:bodyPr wrap="square" lIns="0" tIns="0" rIns="0" bIns="0" rtlCol="0" anchor="t"/>
          <a:lstStyle/>
          <a:p>
            <a:pPr marL="0" indent="0">
              <a:buNone/>
            </a:pPr>
            <a:r>
              <a:rPr lang="en-US" sz="1500" dirty="0">
                <a:solidFill>
                  <a:schemeClr val="tx1"/>
                </a:solidFill>
                <a:latin typeface="+mj-lt"/>
              </a:rPr>
              <a:t>of overtime workers left compared to 9.7% of non-overtime workers</a:t>
            </a:r>
            <a:endParaRPr lang="en-US" sz="1500" dirty="0">
              <a:latin typeface="+mj-lt"/>
            </a:endParaRPr>
          </a:p>
        </p:txBody>
      </p:sp>
      <p:sp>
        <p:nvSpPr>
          <p:cNvPr id="6" name="Shape 4"/>
          <p:cNvSpPr/>
          <p:nvPr/>
        </p:nvSpPr>
        <p:spPr>
          <a:xfrm>
            <a:off x="548640" y="3749040"/>
            <a:ext cx="4206240" cy="2011680"/>
          </a:xfrm>
          <a:prstGeom prst="roundRect">
            <a:avLst>
              <a:gd name="adj" fmla="val 3636"/>
            </a:avLst>
          </a:prstGeom>
          <a:solidFill>
            <a:schemeClr val="bg2"/>
          </a:solidFill>
          <a:ln w="12700">
            <a:solidFill>
              <a:schemeClr val="bg2"/>
            </a:solidFill>
            <a:prstDash val="solid"/>
          </a:ln>
        </p:spPr>
        <p:txBody>
          <a:bodyPr/>
          <a:lstStyle/>
          <a:p>
            <a:endParaRPr lang="en-US">
              <a:latin typeface="+mj-lt"/>
            </a:endParaRPr>
          </a:p>
        </p:txBody>
      </p:sp>
      <p:sp>
        <p:nvSpPr>
          <p:cNvPr id="7" name="Text 5"/>
          <p:cNvSpPr txBox="1"/>
          <p:nvPr/>
        </p:nvSpPr>
        <p:spPr>
          <a:xfrm>
            <a:off x="685800" y="3826510"/>
            <a:ext cx="3947159" cy="400050"/>
          </a:xfrm>
          <a:prstGeom prst="rect">
            <a:avLst/>
          </a:prstGeom>
          <a:noFill/>
          <a:ln/>
        </p:spPr>
        <p:txBody>
          <a:bodyPr wrap="square" lIns="0" tIns="0" rIns="0" bIns="0" rtlCol="0" anchor="b"/>
          <a:lstStyle/>
          <a:p>
            <a:pPr marL="0" indent="0">
              <a:buNone/>
            </a:pPr>
            <a:r>
              <a:rPr lang="en-US" sz="1500" b="1" dirty="0">
                <a:solidFill>
                  <a:schemeClr val="accent5"/>
                </a:solidFill>
                <a:latin typeface="+mj-lt"/>
                <a:ea typeface="Cambria" pitchFamily="34" charset="-122"/>
              </a:rPr>
              <a:t>Chi-Squared Test</a:t>
            </a:r>
            <a:endParaRPr lang="en-US" sz="1500" dirty="0">
              <a:latin typeface="+mj-lt"/>
            </a:endParaRPr>
          </a:p>
        </p:txBody>
      </p:sp>
      <p:sp>
        <p:nvSpPr>
          <p:cNvPr id="10" name="Text 7"/>
          <p:cNvSpPr txBox="1"/>
          <p:nvPr/>
        </p:nvSpPr>
        <p:spPr>
          <a:xfrm>
            <a:off x="548640" y="6263640"/>
            <a:ext cx="10424160" cy="365760"/>
          </a:xfrm>
          <a:prstGeom prst="rect">
            <a:avLst/>
          </a:prstGeom>
          <a:noFill/>
          <a:ln/>
        </p:spPr>
        <p:txBody>
          <a:bodyPr wrap="square" lIns="0" tIns="0" rIns="0" bIns="0" rtlCol="0" anchor="ctr"/>
          <a:lstStyle/>
          <a:p>
            <a:pPr marL="0" indent="0">
              <a:buNone/>
            </a:pPr>
            <a:r>
              <a:rPr lang="en-US" sz="1100" i="1" dirty="0">
                <a:solidFill>
                  <a:schemeClr val="tx2"/>
                </a:solidFill>
                <a:latin typeface="+mj-lt"/>
              </a:rPr>
              <a:t>Overtime is the most significant single categorical variable in the data. </a:t>
            </a:r>
            <a:endParaRPr lang="en-US" sz="1100" dirty="0">
              <a:latin typeface="+mj-lt"/>
            </a:endParaRPr>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latin typeface="+mj-lt"/>
              </a:rPr>
              <a:t>5</a:t>
            </a:fld>
            <a:endParaRPr lang="en-US">
              <a:latin typeface="+mj-lt"/>
            </a:endParaRPr>
          </a:p>
        </p:txBody>
      </p:sp>
      <p:graphicFrame>
        <p:nvGraphicFramePr>
          <p:cNvPr id="14" name="Table 13">
            <a:extLst>
              <a:ext uri="{FF2B5EF4-FFF2-40B4-BE49-F238E27FC236}">
                <a16:creationId xmlns:a16="http://schemas.microsoft.com/office/drawing/2014/main" id="{26BDC68F-66AF-1FE9-B51A-DAB7F8CD2637}"/>
              </a:ext>
            </a:extLst>
          </p:cNvPr>
          <p:cNvGraphicFramePr>
            <a:graphicFrameLocks noGrp="1"/>
          </p:cNvGraphicFramePr>
          <p:nvPr>
            <p:extLst>
              <p:ext uri="{D42A27DB-BD31-4B8C-83A1-F6EECF244321}">
                <p14:modId xmlns:p14="http://schemas.microsoft.com/office/powerpoint/2010/main" val="2907990102"/>
              </p:ext>
            </p:extLst>
          </p:nvPr>
        </p:nvGraphicFramePr>
        <p:xfrm>
          <a:off x="685800" y="4517390"/>
          <a:ext cx="3931919" cy="952500"/>
        </p:xfrm>
        <a:graphic>
          <a:graphicData uri="http://schemas.openxmlformats.org/drawingml/2006/table">
            <a:tbl>
              <a:tblPr firstRow="1" bandRow="1">
                <a:tableStyleId>{5C22544A-7EE6-4342-B048-85BDC9FD1C3A}</a:tableStyleId>
              </a:tblPr>
              <a:tblGrid>
                <a:gridCol w="881292">
                  <a:extLst>
                    <a:ext uri="{9D8B030D-6E8A-4147-A177-3AD203B41FA5}">
                      <a16:colId xmlns:a16="http://schemas.microsoft.com/office/drawing/2014/main" val="1799651622"/>
                    </a:ext>
                  </a:extLst>
                </a:gridCol>
                <a:gridCol w="474542">
                  <a:extLst>
                    <a:ext uri="{9D8B030D-6E8A-4147-A177-3AD203B41FA5}">
                      <a16:colId xmlns:a16="http://schemas.microsoft.com/office/drawing/2014/main" val="4144332158"/>
                    </a:ext>
                  </a:extLst>
                </a:gridCol>
                <a:gridCol w="881292">
                  <a:extLst>
                    <a:ext uri="{9D8B030D-6E8A-4147-A177-3AD203B41FA5}">
                      <a16:colId xmlns:a16="http://schemas.microsoft.com/office/drawing/2014/main" val="2577566998"/>
                    </a:ext>
                  </a:extLst>
                </a:gridCol>
                <a:gridCol w="1694793">
                  <a:extLst>
                    <a:ext uri="{9D8B030D-6E8A-4147-A177-3AD203B41FA5}">
                      <a16:colId xmlns:a16="http://schemas.microsoft.com/office/drawing/2014/main" val="289766252"/>
                    </a:ext>
                  </a:extLst>
                </a:gridCol>
              </a:tblGrid>
              <a:tr h="434340">
                <a:tc>
                  <a:txBody>
                    <a:bodyPr/>
                    <a:lstStyle/>
                    <a:p>
                      <a:r>
                        <a:rPr sz="1400" b="1" dirty="0">
                          <a:solidFill>
                            <a:srgbClr val="FFFFFF"/>
                          </a:solidFill>
                          <a:latin typeface="Calibri"/>
                        </a:rPr>
                        <a:t>X-squared</a:t>
                      </a:r>
                    </a:p>
                  </a:txBody>
                  <a:tcPr>
                    <a:solidFill>
                      <a:srgbClr val="1F2A44"/>
                    </a:solidFill>
                  </a:tcPr>
                </a:tc>
                <a:tc>
                  <a:txBody>
                    <a:bodyPr/>
                    <a:lstStyle/>
                    <a:p>
                      <a:r>
                        <a:rPr sz="1400" b="1">
                          <a:solidFill>
                            <a:srgbClr val="FFFFFF"/>
                          </a:solidFill>
                          <a:latin typeface="Calibri"/>
                        </a:rPr>
                        <a:t>df</a:t>
                      </a:r>
                    </a:p>
                  </a:txBody>
                  <a:tcPr>
                    <a:solidFill>
                      <a:srgbClr val="1F2A44"/>
                    </a:solidFill>
                  </a:tcPr>
                </a:tc>
                <a:tc>
                  <a:txBody>
                    <a:bodyPr/>
                    <a:lstStyle/>
                    <a:p>
                      <a:r>
                        <a:rPr sz="1400" b="1" dirty="0">
                          <a:solidFill>
                            <a:srgbClr val="FFFFFF"/>
                          </a:solidFill>
                          <a:latin typeface="Calibri"/>
                        </a:rPr>
                        <a:t>p-value</a:t>
                      </a:r>
                    </a:p>
                  </a:txBody>
                  <a:tcPr>
                    <a:solidFill>
                      <a:srgbClr val="1F2A44"/>
                    </a:solidFill>
                  </a:tcPr>
                </a:tc>
                <a:tc>
                  <a:txBody>
                    <a:bodyPr/>
                    <a:lstStyle/>
                    <a:p>
                      <a:r>
                        <a:rPr sz="1400" b="1" dirty="0">
                          <a:solidFill>
                            <a:srgbClr val="FFFFFF"/>
                          </a:solidFill>
                          <a:latin typeface="Calibri"/>
                        </a:rPr>
                        <a:t>Decision</a:t>
                      </a:r>
                    </a:p>
                  </a:txBody>
                  <a:tcPr>
                    <a:solidFill>
                      <a:srgbClr val="1F2A44"/>
                    </a:solidFill>
                  </a:tcPr>
                </a:tc>
                <a:extLst>
                  <a:ext uri="{0D108BD9-81ED-4DB2-BD59-A6C34878D82A}">
                    <a16:rowId xmlns:a16="http://schemas.microsoft.com/office/drawing/2014/main" val="2650618373"/>
                  </a:ext>
                </a:extLst>
              </a:tr>
              <a:tr h="434340">
                <a:tc>
                  <a:txBody>
                    <a:bodyPr/>
                    <a:lstStyle/>
                    <a:p>
                      <a:r>
                        <a:rPr sz="1400" b="0">
                          <a:solidFill>
                            <a:srgbClr val="1F2A44"/>
                          </a:solidFill>
                          <a:latin typeface="Calibri"/>
                        </a:rPr>
                        <a:t>62.762</a:t>
                      </a:r>
                    </a:p>
                  </a:txBody>
                  <a:tcPr>
                    <a:solidFill>
                      <a:srgbClr val="FFFFFF"/>
                    </a:solidFill>
                  </a:tcPr>
                </a:tc>
                <a:tc>
                  <a:txBody>
                    <a:bodyPr/>
                    <a:lstStyle/>
                    <a:p>
                      <a:r>
                        <a:rPr sz="1400" b="0" dirty="0">
                          <a:solidFill>
                            <a:srgbClr val="1F2A44"/>
                          </a:solidFill>
                          <a:latin typeface="Calibri"/>
                        </a:rPr>
                        <a:t>1</a:t>
                      </a:r>
                    </a:p>
                  </a:txBody>
                  <a:tcPr>
                    <a:solidFill>
                      <a:srgbClr val="FFFFFF"/>
                    </a:solidFill>
                  </a:tcPr>
                </a:tc>
                <a:tc>
                  <a:txBody>
                    <a:bodyPr/>
                    <a:lstStyle/>
                    <a:p>
                      <a:r>
                        <a:rPr sz="1400" b="0" dirty="0">
                          <a:solidFill>
                            <a:srgbClr val="1F2A44"/>
                          </a:solidFill>
                          <a:latin typeface="Calibri"/>
                        </a:rPr>
                        <a:t>&lt; 0.001</a:t>
                      </a:r>
                    </a:p>
                  </a:txBody>
                  <a:tcPr>
                    <a:solidFill>
                      <a:srgbClr val="FFFFFF"/>
                    </a:solidFill>
                  </a:tcPr>
                </a:tc>
                <a:tc>
                  <a:txBody>
                    <a:bodyPr/>
                    <a:lstStyle/>
                    <a:p>
                      <a:r>
                        <a:rPr sz="1400" b="0" dirty="0">
                          <a:solidFill>
                            <a:srgbClr val="1F2A44"/>
                          </a:solidFill>
                          <a:latin typeface="Calibri"/>
                        </a:rPr>
                        <a:t>Reject: significant</a:t>
                      </a:r>
                    </a:p>
                  </a:txBody>
                  <a:tcPr>
                    <a:solidFill>
                      <a:srgbClr val="FFFFFF"/>
                    </a:solidFill>
                  </a:tcPr>
                </a:tc>
                <a:extLst>
                  <a:ext uri="{0D108BD9-81ED-4DB2-BD59-A6C34878D82A}">
                    <a16:rowId xmlns:a16="http://schemas.microsoft.com/office/drawing/2014/main" val="983123568"/>
                  </a:ext>
                </a:extLst>
              </a:tr>
            </a:tbl>
          </a:graphicData>
        </a:graphic>
      </p:graphicFrame>
      <p:pic>
        <p:nvPicPr>
          <p:cNvPr id="15" name="Picture 14">
            <a:extLst>
              <a:ext uri="{FF2B5EF4-FFF2-40B4-BE49-F238E27FC236}">
                <a16:creationId xmlns:a16="http://schemas.microsoft.com/office/drawing/2014/main" id="{69522931-C048-ABD5-04EB-225A8B66991F}"/>
              </a:ext>
            </a:extLst>
          </p:cNvPr>
          <p:cNvPicPr>
            <a:picLocks noChangeAspect="1"/>
          </p:cNvPicPr>
          <p:nvPr/>
        </p:nvPicPr>
        <p:blipFill>
          <a:blip r:embed="rId3"/>
          <a:stretch>
            <a:fillRect/>
          </a:stretch>
        </p:blipFill>
        <p:spPr>
          <a:xfrm>
            <a:off x="5460999" y="1567180"/>
            <a:ext cx="6045201" cy="431800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14" name="Shape 1">
            <a:extLst>
              <a:ext uri="{FF2B5EF4-FFF2-40B4-BE49-F238E27FC236}">
                <a16:creationId xmlns:a16="http://schemas.microsoft.com/office/drawing/2014/main" id="{DB8728D4-1D3C-898C-5AC7-E24395BA7C83}"/>
              </a:ext>
            </a:extLst>
          </p:cNvPr>
          <p:cNvSpPr/>
          <p:nvPr/>
        </p:nvSpPr>
        <p:spPr>
          <a:xfrm>
            <a:off x="706143" y="1744980"/>
            <a:ext cx="5628641" cy="3815080"/>
          </a:xfrm>
          <a:prstGeom prst="roundRect">
            <a:avLst>
              <a:gd name="adj" fmla="val 3636"/>
            </a:avLst>
          </a:prstGeom>
          <a:solidFill>
            <a:schemeClr val="bg2"/>
          </a:solidFill>
          <a:ln w="12700">
            <a:solidFill>
              <a:schemeClr val="bg2"/>
            </a:solidFill>
            <a:prstDash val="solid"/>
          </a:ln>
        </p:spPr>
        <p:txBody>
          <a:bodyPr/>
          <a:lstStyle/>
          <a:p>
            <a:endParaRPr lang="en-US">
              <a:latin typeface="+mj-lt"/>
            </a:endParaRPr>
          </a:p>
        </p:txBody>
      </p:sp>
      <p:sp>
        <p:nvSpPr>
          <p:cNvPr id="12" name="Shape 1">
            <a:extLst>
              <a:ext uri="{FF2B5EF4-FFF2-40B4-BE49-F238E27FC236}">
                <a16:creationId xmlns:a16="http://schemas.microsoft.com/office/drawing/2014/main" id="{CA6EA74F-594E-4ABA-8D44-73D77F7E15CD}"/>
              </a:ext>
            </a:extLst>
          </p:cNvPr>
          <p:cNvSpPr/>
          <p:nvPr/>
        </p:nvSpPr>
        <p:spPr>
          <a:xfrm>
            <a:off x="1600224" y="2720323"/>
            <a:ext cx="3840480" cy="2011680"/>
          </a:xfrm>
          <a:prstGeom prst="roundRect">
            <a:avLst>
              <a:gd name="adj" fmla="val 3636"/>
            </a:avLst>
          </a:prstGeom>
          <a:solidFill>
            <a:schemeClr val="bg2"/>
          </a:solidFill>
          <a:ln w="12700">
            <a:solidFill>
              <a:schemeClr val="bg2"/>
            </a:solidFill>
            <a:prstDash val="solid"/>
          </a:ln>
        </p:spPr>
        <p:txBody>
          <a:bodyPr/>
          <a:lstStyle/>
          <a:p>
            <a:endParaRPr lang="en-US">
              <a:latin typeface="+mj-lt"/>
            </a:endParaRPr>
          </a:p>
        </p:txBody>
      </p:sp>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buNone/>
            </a:pPr>
            <a:r>
              <a:rPr lang="en-US" sz="3200" b="1" dirty="0">
                <a:solidFill>
                  <a:schemeClr val="tx1"/>
                </a:solidFill>
              </a:rPr>
              <a:t>Top Factor 2: No Stock Options, Higher Attrition</a:t>
            </a:r>
            <a:endParaRPr lang="en-US" sz="3200" dirty="0"/>
          </a:p>
        </p:txBody>
      </p:sp>
      <p:sp>
        <p:nvSpPr>
          <p:cNvPr id="4" name="Shape 1"/>
          <p:cNvSpPr/>
          <p:nvPr/>
        </p:nvSpPr>
        <p:spPr>
          <a:xfrm>
            <a:off x="7772400" y="1463040"/>
            <a:ext cx="3840480" cy="2011680"/>
          </a:xfrm>
          <a:prstGeom prst="roundRect">
            <a:avLst>
              <a:gd name="adj" fmla="val 3636"/>
            </a:avLst>
          </a:prstGeom>
          <a:solidFill>
            <a:schemeClr val="bg2"/>
          </a:solidFill>
          <a:ln w="12700">
            <a:solidFill>
              <a:schemeClr val="bg2"/>
            </a:solidFill>
            <a:prstDash val="solid"/>
          </a:ln>
        </p:spPr>
        <p:txBody>
          <a:bodyPr/>
          <a:lstStyle/>
          <a:p>
            <a:endParaRPr lang="en-US">
              <a:latin typeface="+mj-lt"/>
            </a:endParaRPr>
          </a:p>
        </p:txBody>
      </p:sp>
      <p:sp>
        <p:nvSpPr>
          <p:cNvPr id="5" name="Text 2"/>
          <p:cNvSpPr txBox="1"/>
          <p:nvPr/>
        </p:nvSpPr>
        <p:spPr>
          <a:xfrm>
            <a:off x="8046720" y="1645920"/>
            <a:ext cx="3291840" cy="1005840"/>
          </a:xfrm>
          <a:prstGeom prst="rect">
            <a:avLst/>
          </a:prstGeom>
          <a:noFill/>
          <a:ln/>
        </p:spPr>
        <p:txBody>
          <a:bodyPr wrap="square" lIns="0" tIns="0" rIns="0" bIns="0" rtlCol="0" anchor="b"/>
          <a:lstStyle/>
          <a:p>
            <a:pPr marL="0" indent="0">
              <a:buNone/>
            </a:pPr>
            <a:r>
              <a:rPr lang="en-US" sz="4000" b="1" dirty="0">
                <a:solidFill>
                  <a:schemeClr val="accent1"/>
                </a:solidFill>
                <a:latin typeface="+mj-lt"/>
                <a:ea typeface="Cambria" pitchFamily="34" charset="-122"/>
                <a:cs typeface="Cambria" pitchFamily="34" charset="-120"/>
              </a:rPr>
              <a:t>25.9%</a:t>
            </a:r>
            <a:endParaRPr lang="en-US" sz="4000" dirty="0">
              <a:latin typeface="+mj-lt"/>
            </a:endParaRPr>
          </a:p>
        </p:txBody>
      </p:sp>
      <p:sp>
        <p:nvSpPr>
          <p:cNvPr id="6" name="Text 3"/>
          <p:cNvSpPr txBox="1"/>
          <p:nvPr/>
        </p:nvSpPr>
        <p:spPr>
          <a:xfrm>
            <a:off x="8046720" y="2651760"/>
            <a:ext cx="3291840" cy="685800"/>
          </a:xfrm>
          <a:prstGeom prst="rect">
            <a:avLst/>
          </a:prstGeom>
          <a:noFill/>
          <a:ln/>
        </p:spPr>
        <p:txBody>
          <a:bodyPr wrap="square" lIns="0" tIns="0" rIns="0" bIns="0" rtlCol="0" anchor="t"/>
          <a:lstStyle/>
          <a:p>
            <a:pPr marL="0" indent="0">
              <a:buNone/>
            </a:pPr>
            <a:r>
              <a:rPr lang="en-US" sz="1500" dirty="0">
                <a:solidFill>
                  <a:schemeClr val="tx1"/>
                </a:solidFill>
                <a:latin typeface="+mj-lt"/>
              </a:rPr>
              <a:t>attrition with no stock options (98 of 379)</a:t>
            </a:r>
            <a:endParaRPr lang="en-US" sz="1500" dirty="0">
              <a:latin typeface="+mj-lt"/>
            </a:endParaRPr>
          </a:p>
        </p:txBody>
      </p:sp>
      <p:sp>
        <p:nvSpPr>
          <p:cNvPr id="7" name="Shape 4"/>
          <p:cNvSpPr/>
          <p:nvPr/>
        </p:nvSpPr>
        <p:spPr>
          <a:xfrm>
            <a:off x="7772400" y="3749040"/>
            <a:ext cx="3840480" cy="2011680"/>
          </a:xfrm>
          <a:prstGeom prst="roundRect">
            <a:avLst>
              <a:gd name="adj" fmla="val 3636"/>
            </a:avLst>
          </a:prstGeom>
          <a:solidFill>
            <a:schemeClr val="bg2"/>
          </a:solidFill>
          <a:ln w="12700">
            <a:solidFill>
              <a:schemeClr val="bg2"/>
            </a:solidFill>
            <a:prstDash val="solid"/>
          </a:ln>
        </p:spPr>
        <p:txBody>
          <a:bodyPr/>
          <a:lstStyle/>
          <a:p>
            <a:endParaRPr lang="en-US">
              <a:latin typeface="+mj-lt"/>
            </a:endParaRPr>
          </a:p>
        </p:txBody>
      </p:sp>
      <p:sp>
        <p:nvSpPr>
          <p:cNvPr id="8" name="Text 5"/>
          <p:cNvSpPr txBox="1"/>
          <p:nvPr/>
        </p:nvSpPr>
        <p:spPr>
          <a:xfrm>
            <a:off x="8046720" y="3810000"/>
            <a:ext cx="3291840" cy="365760"/>
          </a:xfrm>
          <a:prstGeom prst="rect">
            <a:avLst/>
          </a:prstGeom>
          <a:noFill/>
          <a:ln/>
        </p:spPr>
        <p:txBody>
          <a:bodyPr wrap="square" lIns="0" tIns="0" rIns="0" bIns="0" rtlCol="0" anchor="b"/>
          <a:lstStyle/>
          <a:p>
            <a:pPr marL="0" indent="0">
              <a:buNone/>
            </a:pPr>
            <a:r>
              <a:rPr lang="en-US" sz="1500" b="1" dirty="0">
                <a:solidFill>
                  <a:schemeClr val="accent5"/>
                </a:solidFill>
                <a:latin typeface="+mj-lt"/>
                <a:ea typeface="Cambria" pitchFamily="34" charset="-122"/>
                <a:cs typeface="Cambria" pitchFamily="34" charset="-120"/>
              </a:rPr>
              <a:t>T-test</a:t>
            </a:r>
            <a:endParaRPr lang="en-US" sz="1500" dirty="0">
              <a:latin typeface="+mj-lt"/>
            </a:endParaRPr>
          </a:p>
        </p:txBody>
      </p:sp>
      <p:sp>
        <p:nvSpPr>
          <p:cNvPr id="10" name="Text 7"/>
          <p:cNvSpPr txBox="1"/>
          <p:nvPr/>
        </p:nvSpPr>
        <p:spPr>
          <a:xfrm>
            <a:off x="548640" y="6263640"/>
            <a:ext cx="10424160" cy="365760"/>
          </a:xfrm>
          <a:prstGeom prst="rect">
            <a:avLst/>
          </a:prstGeom>
          <a:noFill/>
          <a:ln/>
        </p:spPr>
        <p:txBody>
          <a:bodyPr wrap="square" lIns="0" tIns="0" rIns="0" bIns="0" rtlCol="0" anchor="ctr"/>
          <a:lstStyle/>
          <a:p>
            <a:pPr marL="0" indent="0">
              <a:buNone/>
            </a:pPr>
            <a:r>
              <a:rPr lang="en-US" sz="1100" i="1" dirty="0">
                <a:solidFill>
                  <a:schemeClr val="tx2"/>
                </a:solidFill>
                <a:latin typeface="+mj-lt"/>
              </a:rPr>
              <a:t>Level 3 is high again (21.8%), but only 55 employees are at that level, so the estimate is not as stable.</a:t>
            </a:r>
            <a:endParaRPr lang="en-US" sz="1100" dirty="0">
              <a:latin typeface="+mj-lt"/>
            </a:endParaRPr>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latin typeface="+mj-lt"/>
              </a:rPr>
              <a:t>6</a:t>
            </a:fld>
            <a:endParaRPr lang="en-US">
              <a:latin typeface="+mj-lt"/>
            </a:endParaRPr>
          </a:p>
        </p:txBody>
      </p:sp>
      <p:pic>
        <p:nvPicPr>
          <p:cNvPr id="11" name="Picture 10">
            <a:extLst>
              <a:ext uri="{FF2B5EF4-FFF2-40B4-BE49-F238E27FC236}">
                <a16:creationId xmlns:a16="http://schemas.microsoft.com/office/drawing/2014/main" id="{E98F2CFC-040D-7B29-E481-B04DF5405EA7}"/>
              </a:ext>
            </a:extLst>
          </p:cNvPr>
          <p:cNvPicPr>
            <a:picLocks noChangeAspect="1"/>
          </p:cNvPicPr>
          <p:nvPr/>
        </p:nvPicPr>
        <p:blipFill>
          <a:blip r:embed="rId3"/>
          <a:stretch>
            <a:fillRect/>
          </a:stretch>
        </p:blipFill>
        <p:spPr>
          <a:xfrm>
            <a:off x="548640" y="1440147"/>
            <a:ext cx="6400847" cy="4572033"/>
          </a:xfrm>
          <a:prstGeom prst="rect">
            <a:avLst/>
          </a:prstGeom>
        </p:spPr>
      </p:pic>
      <p:graphicFrame>
        <p:nvGraphicFramePr>
          <p:cNvPr id="15" name="Table 14">
            <a:extLst>
              <a:ext uri="{FF2B5EF4-FFF2-40B4-BE49-F238E27FC236}">
                <a16:creationId xmlns:a16="http://schemas.microsoft.com/office/drawing/2014/main" id="{19ED3910-680E-5E81-B127-3FE7E632A542}"/>
              </a:ext>
            </a:extLst>
          </p:cNvPr>
          <p:cNvGraphicFramePr>
            <a:graphicFrameLocks noGrp="1"/>
          </p:cNvGraphicFramePr>
          <p:nvPr>
            <p:extLst>
              <p:ext uri="{D42A27DB-BD31-4B8C-83A1-F6EECF244321}">
                <p14:modId xmlns:p14="http://schemas.microsoft.com/office/powerpoint/2010/main" val="1324962299"/>
              </p:ext>
            </p:extLst>
          </p:nvPr>
        </p:nvGraphicFramePr>
        <p:xfrm>
          <a:off x="8046720" y="4343400"/>
          <a:ext cx="3508038" cy="1189673"/>
        </p:xfrm>
        <a:graphic>
          <a:graphicData uri="http://schemas.openxmlformats.org/drawingml/2006/table">
            <a:tbl>
              <a:tblPr firstRow="1" bandRow="1">
                <a:tableStyleId>{5C22544A-7EE6-4342-B048-85BDC9FD1C3A}</a:tableStyleId>
              </a:tblPr>
              <a:tblGrid>
                <a:gridCol w="538480">
                  <a:extLst>
                    <a:ext uri="{9D8B030D-6E8A-4147-A177-3AD203B41FA5}">
                      <a16:colId xmlns:a16="http://schemas.microsoft.com/office/drawing/2014/main" val="1799651622"/>
                    </a:ext>
                  </a:extLst>
                </a:gridCol>
                <a:gridCol w="812835">
                  <a:extLst>
                    <a:ext uri="{9D8B030D-6E8A-4147-A177-3AD203B41FA5}">
                      <a16:colId xmlns:a16="http://schemas.microsoft.com/office/drawing/2014/main" val="4144332158"/>
                    </a:ext>
                  </a:extLst>
                </a:gridCol>
                <a:gridCol w="737826">
                  <a:extLst>
                    <a:ext uri="{9D8B030D-6E8A-4147-A177-3AD203B41FA5}">
                      <a16:colId xmlns:a16="http://schemas.microsoft.com/office/drawing/2014/main" val="2577566998"/>
                    </a:ext>
                  </a:extLst>
                </a:gridCol>
                <a:gridCol w="1418897">
                  <a:extLst>
                    <a:ext uri="{9D8B030D-6E8A-4147-A177-3AD203B41FA5}">
                      <a16:colId xmlns:a16="http://schemas.microsoft.com/office/drawing/2014/main" val="289766252"/>
                    </a:ext>
                  </a:extLst>
                </a:gridCol>
              </a:tblGrid>
              <a:tr h="671513">
                <a:tc>
                  <a:txBody>
                    <a:bodyPr/>
                    <a:lstStyle/>
                    <a:p>
                      <a:r>
                        <a:rPr lang="en-US" sz="1400" b="1" dirty="0">
                          <a:solidFill>
                            <a:srgbClr val="FFFFFF"/>
                          </a:solidFill>
                          <a:latin typeface="Calibri"/>
                        </a:rPr>
                        <a:t>t</a:t>
                      </a:r>
                      <a:endParaRPr sz="1400" b="1" dirty="0">
                        <a:solidFill>
                          <a:srgbClr val="FFFFFF"/>
                        </a:solidFill>
                        <a:latin typeface="Calibri"/>
                      </a:endParaRPr>
                    </a:p>
                  </a:txBody>
                  <a:tcPr>
                    <a:solidFill>
                      <a:srgbClr val="1F2A44"/>
                    </a:solidFill>
                  </a:tcPr>
                </a:tc>
                <a:tc>
                  <a:txBody>
                    <a:bodyPr/>
                    <a:lstStyle/>
                    <a:p>
                      <a:r>
                        <a:rPr sz="1400" b="1">
                          <a:solidFill>
                            <a:srgbClr val="FFFFFF"/>
                          </a:solidFill>
                          <a:latin typeface="Calibri"/>
                        </a:rPr>
                        <a:t>df</a:t>
                      </a:r>
                    </a:p>
                  </a:txBody>
                  <a:tcPr>
                    <a:solidFill>
                      <a:srgbClr val="1F2A44"/>
                    </a:solidFill>
                  </a:tcPr>
                </a:tc>
                <a:tc>
                  <a:txBody>
                    <a:bodyPr/>
                    <a:lstStyle/>
                    <a:p>
                      <a:r>
                        <a:rPr sz="1400" b="1" dirty="0">
                          <a:solidFill>
                            <a:srgbClr val="FFFFFF"/>
                          </a:solidFill>
                          <a:latin typeface="Calibri"/>
                        </a:rPr>
                        <a:t>p-value</a:t>
                      </a:r>
                    </a:p>
                  </a:txBody>
                  <a:tcPr>
                    <a:solidFill>
                      <a:srgbClr val="1F2A44"/>
                    </a:solidFill>
                  </a:tcPr>
                </a:tc>
                <a:tc>
                  <a:txBody>
                    <a:bodyPr/>
                    <a:lstStyle/>
                    <a:p>
                      <a:r>
                        <a:rPr sz="1400" b="1" dirty="0">
                          <a:solidFill>
                            <a:srgbClr val="FFFFFF"/>
                          </a:solidFill>
                          <a:latin typeface="Calibri"/>
                        </a:rPr>
                        <a:t>Decision</a:t>
                      </a:r>
                    </a:p>
                  </a:txBody>
                  <a:tcPr>
                    <a:solidFill>
                      <a:srgbClr val="1F2A44"/>
                    </a:solidFill>
                  </a:tcPr>
                </a:tc>
                <a:extLst>
                  <a:ext uri="{0D108BD9-81ED-4DB2-BD59-A6C34878D82A}">
                    <a16:rowId xmlns:a16="http://schemas.microsoft.com/office/drawing/2014/main" val="2650618373"/>
                  </a:ext>
                </a:extLst>
              </a:tr>
              <a:tr h="427970">
                <a:tc>
                  <a:txBody>
                    <a:bodyPr/>
                    <a:lstStyle/>
                    <a:p>
                      <a:r>
                        <a:rPr lang="en-US" sz="1400" b="0" dirty="0">
                          <a:solidFill>
                            <a:srgbClr val="1F2A44"/>
                          </a:solidFill>
                          <a:latin typeface="Calibri"/>
                        </a:rPr>
                        <a:t>4.22</a:t>
                      </a:r>
                      <a:endParaRPr sz="1400" b="0" dirty="0">
                        <a:solidFill>
                          <a:srgbClr val="1F2A44"/>
                        </a:solidFill>
                        <a:latin typeface="Calibri"/>
                      </a:endParaRPr>
                    </a:p>
                  </a:txBody>
                  <a:tcPr>
                    <a:solidFill>
                      <a:srgbClr val="FFFFFF"/>
                    </a:solidFill>
                  </a:tcPr>
                </a:tc>
                <a:tc>
                  <a:txBody>
                    <a:bodyPr/>
                    <a:lstStyle/>
                    <a:p>
                      <a:r>
                        <a:rPr lang="en-US" sz="1400" b="0" dirty="0">
                          <a:solidFill>
                            <a:srgbClr val="1F2A44"/>
                          </a:solidFill>
                          <a:latin typeface="Calibri"/>
                        </a:rPr>
                        <a:t>187.92</a:t>
                      </a:r>
                      <a:endParaRPr sz="1400" b="0" dirty="0">
                        <a:solidFill>
                          <a:srgbClr val="1F2A44"/>
                        </a:solidFill>
                        <a:latin typeface="Calibri"/>
                      </a:endParaRPr>
                    </a:p>
                  </a:txBody>
                  <a:tcPr>
                    <a:solidFill>
                      <a:srgbClr val="FFFFFF"/>
                    </a:solidFill>
                  </a:tcPr>
                </a:tc>
                <a:tc>
                  <a:txBody>
                    <a:bodyPr/>
                    <a:lstStyle/>
                    <a:p>
                      <a:r>
                        <a:rPr sz="1400" b="0" dirty="0">
                          <a:solidFill>
                            <a:srgbClr val="1F2A44"/>
                          </a:solidFill>
                          <a:latin typeface="Calibri"/>
                        </a:rPr>
                        <a:t>&lt; 0.001</a:t>
                      </a:r>
                    </a:p>
                  </a:txBody>
                  <a:tcPr>
                    <a:solidFill>
                      <a:srgbClr val="FFFFFF"/>
                    </a:solidFill>
                  </a:tcPr>
                </a:tc>
                <a:tc>
                  <a:txBody>
                    <a:bodyPr/>
                    <a:lstStyle/>
                    <a:p>
                      <a:r>
                        <a:rPr sz="1400" b="0" dirty="0">
                          <a:solidFill>
                            <a:srgbClr val="1F2A44"/>
                          </a:solidFill>
                          <a:latin typeface="Calibri"/>
                        </a:rPr>
                        <a:t>Reject: significant</a:t>
                      </a:r>
                    </a:p>
                  </a:txBody>
                  <a:tcPr>
                    <a:solidFill>
                      <a:srgbClr val="FFFFFF"/>
                    </a:solidFill>
                  </a:tcPr>
                </a:tc>
                <a:extLst>
                  <a:ext uri="{0D108BD9-81ED-4DB2-BD59-A6C34878D82A}">
                    <a16:rowId xmlns:a16="http://schemas.microsoft.com/office/drawing/2014/main" val="983123568"/>
                  </a:ext>
                </a:extLst>
              </a:tr>
            </a:tbl>
          </a:graphicData>
        </a:graphic>
      </p:graphicFrame>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54BD7-8BE0-20AC-676B-AB1AA4B1FF16}"/>
            </a:ext>
          </a:extLst>
        </p:cNvPr>
        <p:cNvGrpSpPr/>
        <p:nvPr/>
      </p:nvGrpSpPr>
      <p:grpSpPr>
        <a:xfrm>
          <a:off x="0" y="0"/>
          <a:ext cx="0" cy="0"/>
          <a:chOff x="0" y="0"/>
          <a:chExt cx="0" cy="0"/>
        </a:xfrm>
      </p:grpSpPr>
      <p:sp>
        <p:nvSpPr>
          <p:cNvPr id="14" name="Shape 1">
            <a:extLst>
              <a:ext uri="{FF2B5EF4-FFF2-40B4-BE49-F238E27FC236}">
                <a16:creationId xmlns:a16="http://schemas.microsoft.com/office/drawing/2014/main" id="{3E0AD152-80BD-25AB-DBC1-31BB72A6740D}"/>
              </a:ext>
            </a:extLst>
          </p:cNvPr>
          <p:cNvSpPr/>
          <p:nvPr/>
        </p:nvSpPr>
        <p:spPr>
          <a:xfrm>
            <a:off x="706143" y="1744980"/>
            <a:ext cx="5628641" cy="3815080"/>
          </a:xfrm>
          <a:prstGeom prst="roundRect">
            <a:avLst>
              <a:gd name="adj" fmla="val 3636"/>
            </a:avLst>
          </a:prstGeom>
          <a:solidFill>
            <a:schemeClr val="bg2"/>
          </a:solidFill>
          <a:ln w="12700">
            <a:solidFill>
              <a:schemeClr val="bg2"/>
            </a:solidFill>
            <a:prstDash val="solid"/>
          </a:ln>
        </p:spPr>
        <p:txBody>
          <a:bodyPr/>
          <a:lstStyle/>
          <a:p>
            <a:endParaRPr lang="en-US">
              <a:latin typeface="+mj-lt"/>
            </a:endParaRPr>
          </a:p>
        </p:txBody>
      </p:sp>
      <p:sp>
        <p:nvSpPr>
          <p:cNvPr id="12" name="Shape 1">
            <a:extLst>
              <a:ext uri="{FF2B5EF4-FFF2-40B4-BE49-F238E27FC236}">
                <a16:creationId xmlns:a16="http://schemas.microsoft.com/office/drawing/2014/main" id="{A3F5BBD9-7017-F9A8-FDE2-34E71E2ED775}"/>
              </a:ext>
            </a:extLst>
          </p:cNvPr>
          <p:cNvSpPr/>
          <p:nvPr/>
        </p:nvSpPr>
        <p:spPr>
          <a:xfrm>
            <a:off x="1600224" y="2720323"/>
            <a:ext cx="3840480" cy="2011680"/>
          </a:xfrm>
          <a:prstGeom prst="roundRect">
            <a:avLst>
              <a:gd name="adj" fmla="val 3636"/>
            </a:avLst>
          </a:prstGeom>
          <a:solidFill>
            <a:schemeClr val="bg2"/>
          </a:solidFill>
          <a:ln w="12700">
            <a:solidFill>
              <a:schemeClr val="bg2"/>
            </a:solidFill>
            <a:prstDash val="solid"/>
          </a:ln>
        </p:spPr>
        <p:txBody>
          <a:bodyPr/>
          <a:lstStyle/>
          <a:p>
            <a:endParaRPr lang="en-US">
              <a:latin typeface="+mj-lt"/>
            </a:endParaRPr>
          </a:p>
        </p:txBody>
      </p:sp>
      <p:sp>
        <p:nvSpPr>
          <p:cNvPr id="2" name="Text 0">
            <a:extLst>
              <a:ext uri="{FF2B5EF4-FFF2-40B4-BE49-F238E27FC236}">
                <a16:creationId xmlns:a16="http://schemas.microsoft.com/office/drawing/2014/main" id="{5FD753F5-0AC3-7F0C-CF8B-452CF4B246B7}"/>
              </a:ext>
            </a:extLst>
          </p:cNvPr>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buNone/>
            </a:pPr>
            <a:r>
              <a:rPr lang="en-US" sz="3200" b="1" dirty="0">
                <a:solidFill>
                  <a:schemeClr val="tx1"/>
                </a:solidFill>
              </a:rPr>
              <a:t>Top Factor 3: Monthly Income</a:t>
            </a:r>
            <a:endParaRPr lang="en-US" sz="3200" dirty="0"/>
          </a:p>
        </p:txBody>
      </p:sp>
      <p:sp>
        <p:nvSpPr>
          <p:cNvPr id="4" name="Shape 1">
            <a:extLst>
              <a:ext uri="{FF2B5EF4-FFF2-40B4-BE49-F238E27FC236}">
                <a16:creationId xmlns:a16="http://schemas.microsoft.com/office/drawing/2014/main" id="{12AC1ABA-A94C-1E01-F091-2BC5E45D1968}"/>
              </a:ext>
            </a:extLst>
          </p:cNvPr>
          <p:cNvSpPr/>
          <p:nvPr/>
        </p:nvSpPr>
        <p:spPr>
          <a:xfrm>
            <a:off x="7772400" y="1463040"/>
            <a:ext cx="3840480" cy="2011680"/>
          </a:xfrm>
          <a:prstGeom prst="roundRect">
            <a:avLst>
              <a:gd name="adj" fmla="val 3636"/>
            </a:avLst>
          </a:prstGeom>
          <a:solidFill>
            <a:schemeClr val="bg2"/>
          </a:solidFill>
          <a:ln w="12700">
            <a:solidFill>
              <a:schemeClr val="bg2"/>
            </a:solidFill>
            <a:prstDash val="solid"/>
          </a:ln>
        </p:spPr>
        <p:txBody>
          <a:bodyPr/>
          <a:lstStyle/>
          <a:p>
            <a:endParaRPr lang="en-US">
              <a:latin typeface="+mj-lt"/>
            </a:endParaRPr>
          </a:p>
        </p:txBody>
      </p:sp>
      <p:sp>
        <p:nvSpPr>
          <p:cNvPr id="5" name="Text 2">
            <a:extLst>
              <a:ext uri="{FF2B5EF4-FFF2-40B4-BE49-F238E27FC236}">
                <a16:creationId xmlns:a16="http://schemas.microsoft.com/office/drawing/2014/main" id="{46EDCA95-652A-58ED-358B-C71CD2126837}"/>
              </a:ext>
            </a:extLst>
          </p:cNvPr>
          <p:cNvSpPr txBox="1"/>
          <p:nvPr/>
        </p:nvSpPr>
        <p:spPr>
          <a:xfrm>
            <a:off x="8046720" y="1645920"/>
            <a:ext cx="3291840" cy="1005840"/>
          </a:xfrm>
          <a:prstGeom prst="rect">
            <a:avLst/>
          </a:prstGeom>
          <a:noFill/>
          <a:ln/>
        </p:spPr>
        <p:txBody>
          <a:bodyPr wrap="square" lIns="0" tIns="0" rIns="0" bIns="0" rtlCol="0" anchor="b"/>
          <a:lstStyle/>
          <a:p>
            <a:pPr marL="0" indent="0">
              <a:buNone/>
            </a:pPr>
            <a:r>
              <a:rPr lang="en-US" sz="4000" b="1" dirty="0">
                <a:solidFill>
                  <a:schemeClr val="accent1"/>
                </a:solidFill>
                <a:latin typeface="+mj-lt"/>
                <a:ea typeface="Cambria" pitchFamily="34" charset="-122"/>
                <a:cs typeface="Cambria" pitchFamily="34" charset="-120"/>
              </a:rPr>
              <a:t>28.1%</a:t>
            </a:r>
            <a:endParaRPr lang="en-US" sz="4000" dirty="0">
              <a:latin typeface="+mj-lt"/>
            </a:endParaRPr>
          </a:p>
        </p:txBody>
      </p:sp>
      <p:sp>
        <p:nvSpPr>
          <p:cNvPr id="6" name="Text 3">
            <a:extLst>
              <a:ext uri="{FF2B5EF4-FFF2-40B4-BE49-F238E27FC236}">
                <a16:creationId xmlns:a16="http://schemas.microsoft.com/office/drawing/2014/main" id="{A5F8C646-FBC3-509E-491A-F756C5452CD6}"/>
              </a:ext>
            </a:extLst>
          </p:cNvPr>
          <p:cNvSpPr txBox="1"/>
          <p:nvPr/>
        </p:nvSpPr>
        <p:spPr>
          <a:xfrm>
            <a:off x="8046720" y="2651760"/>
            <a:ext cx="3291840" cy="685800"/>
          </a:xfrm>
          <a:prstGeom prst="rect">
            <a:avLst/>
          </a:prstGeom>
          <a:noFill/>
          <a:ln/>
        </p:spPr>
        <p:txBody>
          <a:bodyPr wrap="square" lIns="0" tIns="0" rIns="0" bIns="0" rtlCol="0" anchor="t"/>
          <a:lstStyle/>
          <a:p>
            <a:pPr marL="0" indent="0">
              <a:buNone/>
            </a:pPr>
            <a:r>
              <a:rPr lang="en-US" sz="1500" dirty="0">
                <a:solidFill>
                  <a:schemeClr val="tx1"/>
                </a:solidFill>
                <a:latin typeface="+mj-lt"/>
              </a:rPr>
              <a:t>Of workers earning under 3000 a month left</a:t>
            </a:r>
            <a:endParaRPr lang="en-US" sz="1500" dirty="0">
              <a:latin typeface="+mj-lt"/>
            </a:endParaRPr>
          </a:p>
        </p:txBody>
      </p:sp>
      <p:sp>
        <p:nvSpPr>
          <p:cNvPr id="7" name="Shape 4">
            <a:extLst>
              <a:ext uri="{FF2B5EF4-FFF2-40B4-BE49-F238E27FC236}">
                <a16:creationId xmlns:a16="http://schemas.microsoft.com/office/drawing/2014/main" id="{6994E21C-CC9C-D435-597B-2CCE40D93718}"/>
              </a:ext>
            </a:extLst>
          </p:cNvPr>
          <p:cNvSpPr/>
          <p:nvPr/>
        </p:nvSpPr>
        <p:spPr>
          <a:xfrm>
            <a:off x="7772400" y="3749040"/>
            <a:ext cx="3840480" cy="2011680"/>
          </a:xfrm>
          <a:prstGeom prst="roundRect">
            <a:avLst>
              <a:gd name="adj" fmla="val 3636"/>
            </a:avLst>
          </a:prstGeom>
          <a:solidFill>
            <a:schemeClr val="bg2"/>
          </a:solidFill>
          <a:ln w="12700">
            <a:solidFill>
              <a:schemeClr val="bg2"/>
            </a:solidFill>
            <a:prstDash val="solid"/>
          </a:ln>
        </p:spPr>
        <p:txBody>
          <a:bodyPr/>
          <a:lstStyle/>
          <a:p>
            <a:endParaRPr lang="en-US">
              <a:latin typeface="+mj-lt"/>
            </a:endParaRPr>
          </a:p>
        </p:txBody>
      </p:sp>
      <p:sp>
        <p:nvSpPr>
          <p:cNvPr id="8" name="Text 5">
            <a:extLst>
              <a:ext uri="{FF2B5EF4-FFF2-40B4-BE49-F238E27FC236}">
                <a16:creationId xmlns:a16="http://schemas.microsoft.com/office/drawing/2014/main" id="{A16B86E5-9459-E955-FFA5-A2147605E81F}"/>
              </a:ext>
            </a:extLst>
          </p:cNvPr>
          <p:cNvSpPr txBox="1"/>
          <p:nvPr/>
        </p:nvSpPr>
        <p:spPr>
          <a:xfrm>
            <a:off x="8046720" y="3810000"/>
            <a:ext cx="3291840" cy="365760"/>
          </a:xfrm>
          <a:prstGeom prst="rect">
            <a:avLst/>
          </a:prstGeom>
          <a:noFill/>
          <a:ln/>
        </p:spPr>
        <p:txBody>
          <a:bodyPr wrap="square" lIns="0" tIns="0" rIns="0" bIns="0" rtlCol="0" anchor="b"/>
          <a:lstStyle/>
          <a:p>
            <a:pPr marL="0" indent="0">
              <a:buNone/>
            </a:pPr>
            <a:r>
              <a:rPr lang="en-US" sz="1500" b="1" dirty="0">
                <a:solidFill>
                  <a:schemeClr val="accent5"/>
                </a:solidFill>
                <a:latin typeface="+mj-lt"/>
                <a:ea typeface="Cambria" pitchFamily="34" charset="-122"/>
                <a:cs typeface="Cambria" pitchFamily="34" charset="-120"/>
              </a:rPr>
              <a:t>T-test</a:t>
            </a:r>
            <a:endParaRPr lang="en-US" sz="1500" dirty="0">
              <a:latin typeface="+mj-lt"/>
            </a:endParaRPr>
          </a:p>
        </p:txBody>
      </p:sp>
      <p:sp>
        <p:nvSpPr>
          <p:cNvPr id="25" name="Slide Number Placeholder 0">
            <a:extLst>
              <a:ext uri="{FF2B5EF4-FFF2-40B4-BE49-F238E27FC236}">
                <a16:creationId xmlns:a16="http://schemas.microsoft.com/office/drawing/2014/main" id="{D796C590-D909-68DE-75C1-C4D3D958946D}"/>
              </a:ext>
            </a:extLst>
          </p:cNvPr>
          <p:cNvSpPr>
            <a:spLocks noGrp="1"/>
          </p:cNvSpPr>
          <p:nvPr>
            <p:ph type="sldNum" sz="quarter" idx="4294967295"/>
          </p:nvPr>
        </p:nvSpPr>
        <p:spPr>
          <a:xfrm>
            <a:off x="1124712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latin typeface="+mj-lt"/>
              </a:rPr>
              <a:t>7</a:t>
            </a:fld>
            <a:endParaRPr lang="en-US">
              <a:latin typeface="+mj-lt"/>
            </a:endParaRPr>
          </a:p>
        </p:txBody>
      </p:sp>
      <p:graphicFrame>
        <p:nvGraphicFramePr>
          <p:cNvPr id="15" name="Table 14">
            <a:extLst>
              <a:ext uri="{FF2B5EF4-FFF2-40B4-BE49-F238E27FC236}">
                <a16:creationId xmlns:a16="http://schemas.microsoft.com/office/drawing/2014/main" id="{C594BD67-FDDE-1250-D9E4-6D06A5CF07A7}"/>
              </a:ext>
            </a:extLst>
          </p:cNvPr>
          <p:cNvGraphicFramePr>
            <a:graphicFrameLocks noGrp="1"/>
          </p:cNvGraphicFramePr>
          <p:nvPr>
            <p:extLst>
              <p:ext uri="{D42A27DB-BD31-4B8C-83A1-F6EECF244321}">
                <p14:modId xmlns:p14="http://schemas.microsoft.com/office/powerpoint/2010/main" val="3874188268"/>
              </p:ext>
            </p:extLst>
          </p:nvPr>
        </p:nvGraphicFramePr>
        <p:xfrm>
          <a:off x="8046720" y="4343400"/>
          <a:ext cx="3508038" cy="1189673"/>
        </p:xfrm>
        <a:graphic>
          <a:graphicData uri="http://schemas.openxmlformats.org/drawingml/2006/table">
            <a:tbl>
              <a:tblPr firstRow="1" bandRow="1">
                <a:tableStyleId>{5C22544A-7EE6-4342-B048-85BDC9FD1C3A}</a:tableStyleId>
              </a:tblPr>
              <a:tblGrid>
                <a:gridCol w="538480">
                  <a:extLst>
                    <a:ext uri="{9D8B030D-6E8A-4147-A177-3AD203B41FA5}">
                      <a16:colId xmlns:a16="http://schemas.microsoft.com/office/drawing/2014/main" val="1799651622"/>
                    </a:ext>
                  </a:extLst>
                </a:gridCol>
                <a:gridCol w="812835">
                  <a:extLst>
                    <a:ext uri="{9D8B030D-6E8A-4147-A177-3AD203B41FA5}">
                      <a16:colId xmlns:a16="http://schemas.microsoft.com/office/drawing/2014/main" val="4144332158"/>
                    </a:ext>
                  </a:extLst>
                </a:gridCol>
                <a:gridCol w="737826">
                  <a:extLst>
                    <a:ext uri="{9D8B030D-6E8A-4147-A177-3AD203B41FA5}">
                      <a16:colId xmlns:a16="http://schemas.microsoft.com/office/drawing/2014/main" val="2577566998"/>
                    </a:ext>
                  </a:extLst>
                </a:gridCol>
                <a:gridCol w="1418897">
                  <a:extLst>
                    <a:ext uri="{9D8B030D-6E8A-4147-A177-3AD203B41FA5}">
                      <a16:colId xmlns:a16="http://schemas.microsoft.com/office/drawing/2014/main" val="289766252"/>
                    </a:ext>
                  </a:extLst>
                </a:gridCol>
              </a:tblGrid>
              <a:tr h="671513">
                <a:tc>
                  <a:txBody>
                    <a:bodyPr/>
                    <a:lstStyle/>
                    <a:p>
                      <a:r>
                        <a:rPr lang="en-US" sz="1400" b="1" dirty="0">
                          <a:solidFill>
                            <a:srgbClr val="FFFFFF"/>
                          </a:solidFill>
                          <a:latin typeface="Calibri"/>
                        </a:rPr>
                        <a:t>t</a:t>
                      </a:r>
                      <a:endParaRPr sz="1400" b="1" dirty="0">
                        <a:solidFill>
                          <a:srgbClr val="FFFFFF"/>
                        </a:solidFill>
                        <a:latin typeface="Calibri"/>
                      </a:endParaRPr>
                    </a:p>
                  </a:txBody>
                  <a:tcPr>
                    <a:solidFill>
                      <a:srgbClr val="1F2A44"/>
                    </a:solidFill>
                  </a:tcPr>
                </a:tc>
                <a:tc>
                  <a:txBody>
                    <a:bodyPr/>
                    <a:lstStyle/>
                    <a:p>
                      <a:r>
                        <a:rPr sz="1400" b="1">
                          <a:solidFill>
                            <a:srgbClr val="FFFFFF"/>
                          </a:solidFill>
                          <a:latin typeface="Calibri"/>
                        </a:rPr>
                        <a:t>df</a:t>
                      </a:r>
                    </a:p>
                  </a:txBody>
                  <a:tcPr>
                    <a:solidFill>
                      <a:srgbClr val="1F2A44"/>
                    </a:solidFill>
                  </a:tcPr>
                </a:tc>
                <a:tc>
                  <a:txBody>
                    <a:bodyPr/>
                    <a:lstStyle/>
                    <a:p>
                      <a:r>
                        <a:rPr sz="1400" b="1" dirty="0">
                          <a:solidFill>
                            <a:srgbClr val="FFFFFF"/>
                          </a:solidFill>
                          <a:latin typeface="Calibri"/>
                        </a:rPr>
                        <a:t>p-value</a:t>
                      </a:r>
                    </a:p>
                  </a:txBody>
                  <a:tcPr>
                    <a:solidFill>
                      <a:srgbClr val="1F2A44"/>
                    </a:solidFill>
                  </a:tcPr>
                </a:tc>
                <a:tc>
                  <a:txBody>
                    <a:bodyPr/>
                    <a:lstStyle/>
                    <a:p>
                      <a:r>
                        <a:rPr sz="1400" b="1" dirty="0">
                          <a:solidFill>
                            <a:srgbClr val="FFFFFF"/>
                          </a:solidFill>
                          <a:latin typeface="Calibri"/>
                        </a:rPr>
                        <a:t>Decision</a:t>
                      </a:r>
                    </a:p>
                  </a:txBody>
                  <a:tcPr>
                    <a:solidFill>
                      <a:srgbClr val="1F2A44"/>
                    </a:solidFill>
                  </a:tcPr>
                </a:tc>
                <a:extLst>
                  <a:ext uri="{0D108BD9-81ED-4DB2-BD59-A6C34878D82A}">
                    <a16:rowId xmlns:a16="http://schemas.microsoft.com/office/drawing/2014/main" val="2650618373"/>
                  </a:ext>
                </a:extLst>
              </a:tr>
              <a:tr h="427970">
                <a:tc>
                  <a:txBody>
                    <a:bodyPr/>
                    <a:lstStyle/>
                    <a:p>
                      <a:r>
                        <a:rPr lang="en-US" sz="1400" b="0" dirty="0">
                          <a:solidFill>
                            <a:srgbClr val="1F2A44"/>
                          </a:solidFill>
                          <a:latin typeface="Calibri"/>
                        </a:rPr>
                        <a:t>5.32</a:t>
                      </a:r>
                      <a:endParaRPr sz="1400" b="0" dirty="0">
                        <a:solidFill>
                          <a:srgbClr val="1F2A44"/>
                        </a:solidFill>
                        <a:latin typeface="Calibri"/>
                      </a:endParaRPr>
                    </a:p>
                  </a:txBody>
                  <a:tcPr>
                    <a:solidFill>
                      <a:srgbClr val="FFFFFF"/>
                    </a:solidFill>
                  </a:tcPr>
                </a:tc>
                <a:tc>
                  <a:txBody>
                    <a:bodyPr/>
                    <a:lstStyle/>
                    <a:p>
                      <a:r>
                        <a:rPr lang="en-US" sz="1400" b="0" dirty="0">
                          <a:solidFill>
                            <a:srgbClr val="1F2A44"/>
                          </a:solidFill>
                          <a:latin typeface="Calibri"/>
                        </a:rPr>
                        <a:t>228.45</a:t>
                      </a:r>
                      <a:endParaRPr sz="1400" b="0" dirty="0">
                        <a:solidFill>
                          <a:srgbClr val="1F2A44"/>
                        </a:solidFill>
                        <a:latin typeface="Calibri"/>
                      </a:endParaRPr>
                    </a:p>
                  </a:txBody>
                  <a:tcPr>
                    <a:solidFill>
                      <a:srgbClr val="FFFFFF"/>
                    </a:solidFill>
                  </a:tcPr>
                </a:tc>
                <a:tc>
                  <a:txBody>
                    <a:bodyPr/>
                    <a:lstStyle/>
                    <a:p>
                      <a:r>
                        <a:rPr sz="1400" b="0" dirty="0">
                          <a:solidFill>
                            <a:srgbClr val="1F2A44"/>
                          </a:solidFill>
                          <a:latin typeface="Calibri"/>
                        </a:rPr>
                        <a:t>&lt; 0.001</a:t>
                      </a:r>
                    </a:p>
                  </a:txBody>
                  <a:tcPr>
                    <a:solidFill>
                      <a:srgbClr val="FFFFFF"/>
                    </a:solidFill>
                  </a:tcPr>
                </a:tc>
                <a:tc>
                  <a:txBody>
                    <a:bodyPr/>
                    <a:lstStyle/>
                    <a:p>
                      <a:r>
                        <a:rPr sz="1400" b="0" dirty="0">
                          <a:solidFill>
                            <a:srgbClr val="1F2A44"/>
                          </a:solidFill>
                          <a:latin typeface="Calibri"/>
                        </a:rPr>
                        <a:t>Reject: significant</a:t>
                      </a:r>
                    </a:p>
                  </a:txBody>
                  <a:tcPr>
                    <a:solidFill>
                      <a:srgbClr val="FFFFFF"/>
                    </a:solidFill>
                  </a:tcPr>
                </a:tc>
                <a:extLst>
                  <a:ext uri="{0D108BD9-81ED-4DB2-BD59-A6C34878D82A}">
                    <a16:rowId xmlns:a16="http://schemas.microsoft.com/office/drawing/2014/main" val="983123568"/>
                  </a:ext>
                </a:extLst>
              </a:tr>
            </a:tbl>
          </a:graphicData>
        </a:graphic>
      </p:graphicFrame>
      <p:pic>
        <p:nvPicPr>
          <p:cNvPr id="3" name="Picture 2">
            <a:extLst>
              <a:ext uri="{FF2B5EF4-FFF2-40B4-BE49-F238E27FC236}">
                <a16:creationId xmlns:a16="http://schemas.microsoft.com/office/drawing/2014/main" id="{CF031295-4483-9A8F-E34E-D61456C6808D}"/>
              </a:ext>
            </a:extLst>
          </p:cNvPr>
          <p:cNvPicPr>
            <a:picLocks noChangeAspect="1"/>
          </p:cNvPicPr>
          <p:nvPr/>
        </p:nvPicPr>
        <p:blipFill>
          <a:blip r:embed="rId3"/>
          <a:stretch>
            <a:fillRect/>
          </a:stretch>
        </p:blipFill>
        <p:spPr>
          <a:xfrm>
            <a:off x="579120" y="1440146"/>
            <a:ext cx="6400847" cy="4572033"/>
          </a:xfrm>
          <a:prstGeom prst="rect">
            <a:avLst/>
          </a:prstGeom>
        </p:spPr>
      </p:pic>
    </p:spTree>
    <p:extLst>
      <p:ext uri="{BB962C8B-B14F-4D97-AF65-F5344CB8AC3E}">
        <p14:creationId xmlns:p14="http://schemas.microsoft.com/office/powerpoint/2010/main" val="38868909"/>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CADF8-19B5-B47F-2832-46FB3B611276}"/>
            </a:ext>
          </a:extLst>
        </p:cNvPr>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E1BFF60B-3C83-3A74-AB5B-9F09AE1AF8FD}"/>
              </a:ext>
            </a:extLst>
          </p:cNvPr>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latin typeface="+mj-lt"/>
              </a:rPr>
              <a:t>8</a:t>
            </a:fld>
            <a:endParaRPr lang="en-US">
              <a:latin typeface="+mj-lt"/>
            </a:endParaRPr>
          </a:p>
        </p:txBody>
      </p:sp>
      <p:sp>
        <p:nvSpPr>
          <p:cNvPr id="26" name="TextBox 25">
            <a:extLst>
              <a:ext uri="{FF2B5EF4-FFF2-40B4-BE49-F238E27FC236}">
                <a16:creationId xmlns:a16="http://schemas.microsoft.com/office/drawing/2014/main" id="{563CBEF9-F6D2-D9E3-AE4D-F3A7B7ACCA02}"/>
              </a:ext>
            </a:extLst>
          </p:cNvPr>
          <p:cNvSpPr txBox="1"/>
          <p:nvPr/>
        </p:nvSpPr>
        <p:spPr>
          <a:xfrm>
            <a:off x="548640" y="320040"/>
            <a:ext cx="11064240" cy="731520"/>
          </a:xfrm>
          <a:prstGeom prst="rect">
            <a:avLst/>
          </a:prstGeom>
          <a:noFill/>
        </p:spPr>
        <p:txBody>
          <a:bodyPr wrap="square">
            <a:spAutoFit/>
          </a:bodyPr>
          <a:lstStyle/>
          <a:p>
            <a:pPr algn="ctr"/>
            <a:r>
              <a:rPr sz="3200" b="1" i="0">
                <a:solidFill>
                  <a:srgbClr val="1F2A44"/>
                </a:solidFill>
                <a:latin typeface="Cambria"/>
              </a:rPr>
              <a:t>Other Significant Features</a:t>
            </a:r>
          </a:p>
        </p:txBody>
      </p:sp>
      <p:sp>
        <p:nvSpPr>
          <p:cNvPr id="28" name="TextBox 27">
            <a:extLst>
              <a:ext uri="{FF2B5EF4-FFF2-40B4-BE49-F238E27FC236}">
                <a16:creationId xmlns:a16="http://schemas.microsoft.com/office/drawing/2014/main" id="{3A16468F-8752-4AD9-0B76-9A53D4BD5C55}"/>
              </a:ext>
            </a:extLst>
          </p:cNvPr>
          <p:cNvSpPr txBox="1"/>
          <p:nvPr/>
        </p:nvSpPr>
        <p:spPr>
          <a:xfrm>
            <a:off x="548640" y="1188720"/>
            <a:ext cx="6309360" cy="365760"/>
          </a:xfrm>
          <a:prstGeom prst="rect">
            <a:avLst/>
          </a:prstGeom>
          <a:noFill/>
        </p:spPr>
        <p:txBody>
          <a:bodyPr wrap="square">
            <a:spAutoFit/>
          </a:bodyPr>
          <a:lstStyle/>
          <a:p>
            <a:r>
              <a:rPr sz="1800" b="1" i="0">
                <a:solidFill>
                  <a:srgbClr val="D9661F"/>
                </a:solidFill>
                <a:latin typeface="Cambria"/>
              </a:rPr>
              <a:t>t-tests (numeric features)</a:t>
            </a:r>
          </a:p>
        </p:txBody>
      </p:sp>
      <p:graphicFrame>
        <p:nvGraphicFramePr>
          <p:cNvPr id="30" name="Table 29">
            <a:extLst>
              <a:ext uri="{FF2B5EF4-FFF2-40B4-BE49-F238E27FC236}">
                <a16:creationId xmlns:a16="http://schemas.microsoft.com/office/drawing/2014/main" id="{88477EFF-B4D1-7921-7D69-25D939183EC7}"/>
              </a:ext>
            </a:extLst>
          </p:cNvPr>
          <p:cNvGraphicFramePr>
            <a:graphicFrameLocks noGrp="1"/>
          </p:cNvGraphicFramePr>
          <p:nvPr/>
        </p:nvGraphicFramePr>
        <p:xfrm>
          <a:off x="548640" y="1645920"/>
          <a:ext cx="6309360" cy="3950208"/>
        </p:xfrm>
        <a:graphic>
          <a:graphicData uri="http://schemas.openxmlformats.org/drawingml/2006/table">
            <a:tbl>
              <a:tblPr firstRow="1" bandRow="1">
                <a:tableStyleId>{5C22544A-7EE6-4342-B048-85BDC9FD1C3A}</a:tableStyleId>
              </a:tblPr>
              <a:tblGrid>
                <a:gridCol w="260604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329184">
                <a:tc>
                  <a:txBody>
                    <a:bodyPr/>
                    <a:lstStyle/>
                    <a:p>
                      <a:r>
                        <a:rPr sz="1300" b="1">
                          <a:solidFill>
                            <a:srgbClr val="FFFFFF"/>
                          </a:solidFill>
                          <a:latin typeface="Calibri"/>
                        </a:rPr>
                        <a:t>Numeric feature</a:t>
                      </a:r>
                    </a:p>
                  </a:txBody>
                  <a:tcPr marT="27432" marB="27432">
                    <a:solidFill>
                      <a:srgbClr val="1F2A44"/>
                    </a:solidFill>
                  </a:tcPr>
                </a:tc>
                <a:tc>
                  <a:txBody>
                    <a:bodyPr/>
                    <a:lstStyle/>
                    <a:p>
                      <a:r>
                        <a:rPr sz="1300" b="1">
                          <a:solidFill>
                            <a:srgbClr val="FFFFFF"/>
                          </a:solidFill>
                          <a:latin typeface="Calibri"/>
                        </a:rPr>
                        <a:t>Mean (stayed)</a:t>
                      </a:r>
                    </a:p>
                  </a:txBody>
                  <a:tcPr marT="27432" marB="27432">
                    <a:solidFill>
                      <a:srgbClr val="1F2A44"/>
                    </a:solidFill>
                  </a:tcPr>
                </a:tc>
                <a:tc>
                  <a:txBody>
                    <a:bodyPr/>
                    <a:lstStyle/>
                    <a:p>
                      <a:r>
                        <a:rPr sz="1300" b="1">
                          <a:solidFill>
                            <a:srgbClr val="FFFFFF"/>
                          </a:solidFill>
                          <a:latin typeface="Calibri"/>
                        </a:rPr>
                        <a:t>Mean (left)</a:t>
                      </a:r>
                    </a:p>
                  </a:txBody>
                  <a:tcPr marT="27432" marB="27432">
                    <a:solidFill>
                      <a:srgbClr val="1F2A44"/>
                    </a:solidFill>
                  </a:tcPr>
                </a:tc>
                <a:tc>
                  <a:txBody>
                    <a:bodyPr/>
                    <a:lstStyle/>
                    <a:p>
                      <a:r>
                        <a:rPr sz="1300" b="1">
                          <a:solidFill>
                            <a:srgbClr val="FFFFFF"/>
                          </a:solidFill>
                          <a:latin typeface="Calibri"/>
                        </a:rPr>
                        <a:t>p-value</a:t>
                      </a:r>
                    </a:p>
                  </a:txBody>
                  <a:tcPr marT="27432" marB="27432">
                    <a:solidFill>
                      <a:srgbClr val="1F2A44"/>
                    </a:solidFill>
                  </a:tcPr>
                </a:tc>
                <a:extLst>
                  <a:ext uri="{0D108BD9-81ED-4DB2-BD59-A6C34878D82A}">
                    <a16:rowId xmlns:a16="http://schemas.microsoft.com/office/drawing/2014/main" val="10000"/>
                  </a:ext>
                </a:extLst>
              </a:tr>
              <a:tr h="329184">
                <a:tc>
                  <a:txBody>
                    <a:bodyPr/>
                    <a:lstStyle/>
                    <a:p>
                      <a:r>
                        <a:rPr sz="1300" b="0">
                          <a:solidFill>
                            <a:srgbClr val="1F2A44"/>
                          </a:solidFill>
                          <a:latin typeface="Calibri"/>
                        </a:rPr>
                        <a:t>JobLevel</a:t>
                      </a:r>
                    </a:p>
                  </a:txBody>
                  <a:tcPr marT="27432" marB="27432">
                    <a:solidFill>
                      <a:srgbClr val="FFFFFF"/>
                    </a:solidFill>
                  </a:tcPr>
                </a:tc>
                <a:tc>
                  <a:txBody>
                    <a:bodyPr/>
                    <a:lstStyle/>
                    <a:p>
                      <a:r>
                        <a:rPr sz="1300" b="0">
                          <a:solidFill>
                            <a:srgbClr val="1F2A44"/>
                          </a:solidFill>
                          <a:latin typeface="Calibri"/>
                        </a:rPr>
                        <a:t>2.12</a:t>
                      </a:r>
                    </a:p>
                  </a:txBody>
                  <a:tcPr marT="27432" marB="27432">
                    <a:solidFill>
                      <a:srgbClr val="FFFFFF"/>
                    </a:solidFill>
                  </a:tcPr>
                </a:tc>
                <a:tc>
                  <a:txBody>
                    <a:bodyPr/>
                    <a:lstStyle/>
                    <a:p>
                      <a:r>
                        <a:rPr sz="1300" b="0">
                          <a:solidFill>
                            <a:srgbClr val="1F2A44"/>
                          </a:solidFill>
                          <a:latin typeface="Calibri"/>
                        </a:rPr>
                        <a:t>1.64</a:t>
                      </a:r>
                    </a:p>
                  </a:txBody>
                  <a:tcPr marT="27432" marB="27432">
                    <a:solidFill>
                      <a:srgbClr val="FFFFFF"/>
                    </a:solidFill>
                  </a:tcPr>
                </a:tc>
                <a:tc>
                  <a:txBody>
                    <a:bodyPr/>
                    <a:lstStyle/>
                    <a:p>
                      <a:r>
                        <a:rPr sz="1300" b="0">
                          <a:solidFill>
                            <a:srgbClr val="1F2A44"/>
                          </a:solidFill>
                          <a:latin typeface="Calibri"/>
                        </a:rPr>
                        <a:t>&lt; 0.001</a:t>
                      </a:r>
                    </a:p>
                  </a:txBody>
                  <a:tcPr marT="27432" marB="27432">
                    <a:solidFill>
                      <a:srgbClr val="FFFFFF"/>
                    </a:solidFill>
                  </a:tcPr>
                </a:tc>
                <a:extLst>
                  <a:ext uri="{0D108BD9-81ED-4DB2-BD59-A6C34878D82A}">
                    <a16:rowId xmlns:a16="http://schemas.microsoft.com/office/drawing/2014/main" val="10001"/>
                  </a:ext>
                </a:extLst>
              </a:tr>
              <a:tr h="329184">
                <a:tc>
                  <a:txBody>
                    <a:bodyPr/>
                    <a:lstStyle/>
                    <a:p>
                      <a:r>
                        <a:rPr sz="1300" b="0">
                          <a:solidFill>
                            <a:srgbClr val="1F2A44"/>
                          </a:solidFill>
                          <a:latin typeface="Calibri"/>
                        </a:rPr>
                        <a:t>TotalWorkingYears</a:t>
                      </a:r>
                    </a:p>
                  </a:txBody>
                  <a:tcPr marT="27432" marB="27432">
                    <a:solidFill>
                      <a:srgbClr val="EEF1F5"/>
                    </a:solidFill>
                  </a:tcPr>
                </a:tc>
                <a:tc>
                  <a:txBody>
                    <a:bodyPr/>
                    <a:lstStyle/>
                    <a:p>
                      <a:r>
                        <a:rPr sz="1300" b="0">
                          <a:solidFill>
                            <a:srgbClr val="1F2A44"/>
                          </a:solidFill>
                          <a:latin typeface="Calibri"/>
                        </a:rPr>
                        <a:t>11.60</a:t>
                      </a:r>
                    </a:p>
                  </a:txBody>
                  <a:tcPr marT="27432" marB="27432">
                    <a:solidFill>
                      <a:srgbClr val="EEF1F5"/>
                    </a:solidFill>
                  </a:tcPr>
                </a:tc>
                <a:tc>
                  <a:txBody>
                    <a:bodyPr/>
                    <a:lstStyle/>
                    <a:p>
                      <a:r>
                        <a:rPr sz="1300" b="0">
                          <a:solidFill>
                            <a:srgbClr val="1F2A44"/>
                          </a:solidFill>
                          <a:latin typeface="Calibri"/>
                        </a:rPr>
                        <a:t>8.19</a:t>
                      </a:r>
                    </a:p>
                  </a:txBody>
                  <a:tcPr marT="27432" marB="27432">
                    <a:solidFill>
                      <a:srgbClr val="EEF1F5"/>
                    </a:solidFill>
                  </a:tcPr>
                </a:tc>
                <a:tc>
                  <a:txBody>
                    <a:bodyPr/>
                    <a:lstStyle/>
                    <a:p>
                      <a:r>
                        <a:rPr sz="1300" b="0">
                          <a:solidFill>
                            <a:srgbClr val="1F2A44"/>
                          </a:solidFill>
                          <a:latin typeface="Calibri"/>
                        </a:rPr>
                        <a:t>&lt; 0.001</a:t>
                      </a:r>
                    </a:p>
                  </a:txBody>
                  <a:tcPr marT="27432" marB="27432">
                    <a:solidFill>
                      <a:srgbClr val="EEF1F5"/>
                    </a:solidFill>
                  </a:tcPr>
                </a:tc>
                <a:extLst>
                  <a:ext uri="{0D108BD9-81ED-4DB2-BD59-A6C34878D82A}">
                    <a16:rowId xmlns:a16="http://schemas.microsoft.com/office/drawing/2014/main" val="10002"/>
                  </a:ext>
                </a:extLst>
              </a:tr>
              <a:tr h="329184">
                <a:tc>
                  <a:txBody>
                    <a:bodyPr/>
                    <a:lstStyle/>
                    <a:p>
                      <a:r>
                        <a:rPr sz="1300" b="0">
                          <a:solidFill>
                            <a:srgbClr val="1F2A44"/>
                          </a:solidFill>
                          <a:latin typeface="Calibri"/>
                        </a:rPr>
                        <a:t>YearsInCurrentRole</a:t>
                      </a:r>
                    </a:p>
                  </a:txBody>
                  <a:tcPr marT="27432" marB="27432">
                    <a:solidFill>
                      <a:srgbClr val="FFFFFF"/>
                    </a:solidFill>
                  </a:tcPr>
                </a:tc>
                <a:tc>
                  <a:txBody>
                    <a:bodyPr/>
                    <a:lstStyle/>
                    <a:p>
                      <a:r>
                        <a:rPr sz="1300" b="0">
                          <a:solidFill>
                            <a:srgbClr val="1F2A44"/>
                          </a:solidFill>
                          <a:latin typeface="Calibri"/>
                        </a:rPr>
                        <a:t>4.45</a:t>
                      </a:r>
                    </a:p>
                  </a:txBody>
                  <a:tcPr marT="27432" marB="27432">
                    <a:solidFill>
                      <a:srgbClr val="FFFFFF"/>
                    </a:solidFill>
                  </a:tcPr>
                </a:tc>
                <a:tc>
                  <a:txBody>
                    <a:bodyPr/>
                    <a:lstStyle/>
                    <a:p>
                      <a:r>
                        <a:rPr sz="1300" b="0">
                          <a:solidFill>
                            <a:srgbClr val="1F2A44"/>
                          </a:solidFill>
                          <a:latin typeface="Calibri"/>
                        </a:rPr>
                        <a:t>2.91</a:t>
                      </a:r>
                    </a:p>
                  </a:txBody>
                  <a:tcPr marT="27432" marB="27432">
                    <a:solidFill>
                      <a:srgbClr val="FFFFFF"/>
                    </a:solidFill>
                  </a:tcPr>
                </a:tc>
                <a:tc>
                  <a:txBody>
                    <a:bodyPr/>
                    <a:lstStyle/>
                    <a:p>
                      <a:r>
                        <a:rPr sz="1300" b="0">
                          <a:solidFill>
                            <a:srgbClr val="1F2A44"/>
                          </a:solidFill>
                          <a:latin typeface="Calibri"/>
                        </a:rPr>
                        <a:t>&lt; 0.001</a:t>
                      </a:r>
                    </a:p>
                  </a:txBody>
                  <a:tcPr marT="27432" marB="27432">
                    <a:solidFill>
                      <a:srgbClr val="FFFFFF"/>
                    </a:solidFill>
                  </a:tcPr>
                </a:tc>
                <a:extLst>
                  <a:ext uri="{0D108BD9-81ED-4DB2-BD59-A6C34878D82A}">
                    <a16:rowId xmlns:a16="http://schemas.microsoft.com/office/drawing/2014/main" val="10003"/>
                  </a:ext>
                </a:extLst>
              </a:tr>
              <a:tr h="329184">
                <a:tc>
                  <a:txBody>
                    <a:bodyPr/>
                    <a:lstStyle/>
                    <a:p>
                      <a:r>
                        <a:rPr sz="1300" b="0">
                          <a:solidFill>
                            <a:srgbClr val="1F2A44"/>
                          </a:solidFill>
                          <a:latin typeface="Calibri"/>
                        </a:rPr>
                        <a:t>JobInvolvement</a:t>
                      </a:r>
                    </a:p>
                  </a:txBody>
                  <a:tcPr marT="27432" marB="27432">
                    <a:solidFill>
                      <a:srgbClr val="EEF1F5"/>
                    </a:solidFill>
                  </a:tcPr>
                </a:tc>
                <a:tc>
                  <a:txBody>
                    <a:bodyPr/>
                    <a:lstStyle/>
                    <a:p>
                      <a:r>
                        <a:rPr sz="1300" b="0">
                          <a:solidFill>
                            <a:srgbClr val="1F2A44"/>
                          </a:solidFill>
                          <a:latin typeface="Calibri"/>
                        </a:rPr>
                        <a:t>2.78</a:t>
                      </a:r>
                    </a:p>
                  </a:txBody>
                  <a:tcPr marT="27432" marB="27432">
                    <a:solidFill>
                      <a:srgbClr val="EEF1F5"/>
                    </a:solidFill>
                  </a:tcPr>
                </a:tc>
                <a:tc>
                  <a:txBody>
                    <a:bodyPr/>
                    <a:lstStyle/>
                    <a:p>
                      <a:r>
                        <a:rPr sz="1300" b="0">
                          <a:solidFill>
                            <a:srgbClr val="1F2A44"/>
                          </a:solidFill>
                          <a:latin typeface="Calibri"/>
                        </a:rPr>
                        <a:t>2.42</a:t>
                      </a:r>
                    </a:p>
                  </a:txBody>
                  <a:tcPr marT="27432" marB="27432">
                    <a:solidFill>
                      <a:srgbClr val="EEF1F5"/>
                    </a:solidFill>
                  </a:tcPr>
                </a:tc>
                <a:tc>
                  <a:txBody>
                    <a:bodyPr/>
                    <a:lstStyle/>
                    <a:p>
                      <a:r>
                        <a:rPr sz="1300" b="0">
                          <a:solidFill>
                            <a:srgbClr val="1F2A44"/>
                          </a:solidFill>
                          <a:latin typeface="Calibri"/>
                        </a:rPr>
                        <a:t>&lt; 0.001</a:t>
                      </a:r>
                    </a:p>
                  </a:txBody>
                  <a:tcPr marT="27432" marB="27432">
                    <a:solidFill>
                      <a:srgbClr val="EEF1F5"/>
                    </a:solidFill>
                  </a:tcPr>
                </a:tc>
                <a:extLst>
                  <a:ext uri="{0D108BD9-81ED-4DB2-BD59-A6C34878D82A}">
                    <a16:rowId xmlns:a16="http://schemas.microsoft.com/office/drawing/2014/main" val="10004"/>
                  </a:ext>
                </a:extLst>
              </a:tr>
              <a:tr h="329184">
                <a:tc>
                  <a:txBody>
                    <a:bodyPr/>
                    <a:lstStyle/>
                    <a:p>
                      <a:r>
                        <a:rPr sz="1300" b="0">
                          <a:solidFill>
                            <a:srgbClr val="1F2A44"/>
                          </a:solidFill>
                          <a:latin typeface="Calibri"/>
                        </a:rPr>
                        <a:t>YearsWithCurrManager</a:t>
                      </a:r>
                    </a:p>
                  </a:txBody>
                  <a:tcPr marT="27432" marB="27432">
                    <a:solidFill>
                      <a:srgbClr val="FFFFFF"/>
                    </a:solidFill>
                  </a:tcPr>
                </a:tc>
                <a:tc>
                  <a:txBody>
                    <a:bodyPr/>
                    <a:lstStyle/>
                    <a:p>
                      <a:r>
                        <a:rPr sz="1300" b="0">
                          <a:solidFill>
                            <a:srgbClr val="1F2A44"/>
                          </a:solidFill>
                          <a:latin typeface="Calibri"/>
                        </a:rPr>
                        <a:t>4.37</a:t>
                      </a:r>
                    </a:p>
                  </a:txBody>
                  <a:tcPr marT="27432" marB="27432">
                    <a:solidFill>
                      <a:srgbClr val="FFFFFF"/>
                    </a:solidFill>
                  </a:tcPr>
                </a:tc>
                <a:tc>
                  <a:txBody>
                    <a:bodyPr/>
                    <a:lstStyle/>
                    <a:p>
                      <a:r>
                        <a:rPr sz="1300" b="0">
                          <a:solidFill>
                            <a:srgbClr val="1F2A44"/>
                          </a:solidFill>
                          <a:latin typeface="Calibri"/>
                        </a:rPr>
                        <a:t>2.94</a:t>
                      </a:r>
                    </a:p>
                  </a:txBody>
                  <a:tcPr marT="27432" marB="27432">
                    <a:solidFill>
                      <a:srgbClr val="FFFFFF"/>
                    </a:solidFill>
                  </a:tcPr>
                </a:tc>
                <a:tc>
                  <a:txBody>
                    <a:bodyPr/>
                    <a:lstStyle/>
                    <a:p>
                      <a:r>
                        <a:rPr sz="1300" b="0">
                          <a:solidFill>
                            <a:srgbClr val="1F2A44"/>
                          </a:solidFill>
                          <a:latin typeface="Calibri"/>
                        </a:rPr>
                        <a:t>&lt; 0.001</a:t>
                      </a:r>
                    </a:p>
                  </a:txBody>
                  <a:tcPr marT="27432" marB="27432">
                    <a:solidFill>
                      <a:srgbClr val="FFFFFF"/>
                    </a:solidFill>
                  </a:tcPr>
                </a:tc>
                <a:extLst>
                  <a:ext uri="{0D108BD9-81ED-4DB2-BD59-A6C34878D82A}">
                    <a16:rowId xmlns:a16="http://schemas.microsoft.com/office/drawing/2014/main" val="10005"/>
                  </a:ext>
                </a:extLst>
              </a:tr>
              <a:tr h="329184">
                <a:tc>
                  <a:txBody>
                    <a:bodyPr/>
                    <a:lstStyle/>
                    <a:p>
                      <a:r>
                        <a:rPr sz="1300" b="0">
                          <a:solidFill>
                            <a:srgbClr val="1F2A44"/>
                          </a:solidFill>
                          <a:latin typeface="Calibri"/>
                        </a:rPr>
                        <a:t>Age</a:t>
                      </a:r>
                    </a:p>
                  </a:txBody>
                  <a:tcPr marT="27432" marB="27432">
                    <a:solidFill>
                      <a:srgbClr val="EEF1F5"/>
                    </a:solidFill>
                  </a:tcPr>
                </a:tc>
                <a:tc>
                  <a:txBody>
                    <a:bodyPr/>
                    <a:lstStyle/>
                    <a:p>
                      <a:r>
                        <a:rPr sz="1300" b="0">
                          <a:solidFill>
                            <a:srgbClr val="1F2A44"/>
                          </a:solidFill>
                          <a:latin typeface="Calibri"/>
                        </a:rPr>
                        <a:t>37.41</a:t>
                      </a:r>
                    </a:p>
                  </a:txBody>
                  <a:tcPr marT="27432" marB="27432">
                    <a:solidFill>
                      <a:srgbClr val="EEF1F5"/>
                    </a:solidFill>
                  </a:tcPr>
                </a:tc>
                <a:tc>
                  <a:txBody>
                    <a:bodyPr/>
                    <a:lstStyle/>
                    <a:p>
                      <a:r>
                        <a:rPr sz="1300" b="0">
                          <a:solidFill>
                            <a:srgbClr val="1F2A44"/>
                          </a:solidFill>
                          <a:latin typeface="Calibri"/>
                        </a:rPr>
                        <a:t>33.79</a:t>
                      </a:r>
                    </a:p>
                  </a:txBody>
                  <a:tcPr marT="27432" marB="27432">
                    <a:solidFill>
                      <a:srgbClr val="EEF1F5"/>
                    </a:solidFill>
                  </a:tcPr>
                </a:tc>
                <a:tc>
                  <a:txBody>
                    <a:bodyPr/>
                    <a:lstStyle/>
                    <a:p>
                      <a:r>
                        <a:rPr sz="1300" b="0">
                          <a:solidFill>
                            <a:srgbClr val="1F2A44"/>
                          </a:solidFill>
                          <a:latin typeface="Calibri"/>
                        </a:rPr>
                        <a:t>&lt; 0.001</a:t>
                      </a:r>
                    </a:p>
                  </a:txBody>
                  <a:tcPr marT="27432" marB="27432">
                    <a:solidFill>
                      <a:srgbClr val="EEF1F5"/>
                    </a:solidFill>
                  </a:tcPr>
                </a:tc>
                <a:extLst>
                  <a:ext uri="{0D108BD9-81ED-4DB2-BD59-A6C34878D82A}">
                    <a16:rowId xmlns:a16="http://schemas.microsoft.com/office/drawing/2014/main" val="10006"/>
                  </a:ext>
                </a:extLst>
              </a:tr>
              <a:tr h="329184">
                <a:tc>
                  <a:txBody>
                    <a:bodyPr/>
                    <a:lstStyle/>
                    <a:p>
                      <a:r>
                        <a:rPr sz="1300" b="0">
                          <a:solidFill>
                            <a:srgbClr val="1F2A44"/>
                          </a:solidFill>
                          <a:latin typeface="Calibri"/>
                        </a:rPr>
                        <a:t>YearsAtCompany</a:t>
                      </a:r>
                    </a:p>
                  </a:txBody>
                  <a:tcPr marT="27432" marB="27432">
                    <a:solidFill>
                      <a:srgbClr val="FFFFFF"/>
                    </a:solidFill>
                  </a:tcPr>
                </a:tc>
                <a:tc>
                  <a:txBody>
                    <a:bodyPr/>
                    <a:lstStyle/>
                    <a:p>
                      <a:r>
                        <a:rPr sz="1300" b="0">
                          <a:solidFill>
                            <a:srgbClr val="1F2A44"/>
                          </a:solidFill>
                          <a:latin typeface="Calibri"/>
                        </a:rPr>
                        <a:t>7.30</a:t>
                      </a:r>
                    </a:p>
                  </a:txBody>
                  <a:tcPr marT="27432" marB="27432">
                    <a:solidFill>
                      <a:srgbClr val="FFFFFF"/>
                    </a:solidFill>
                  </a:tcPr>
                </a:tc>
                <a:tc>
                  <a:txBody>
                    <a:bodyPr/>
                    <a:lstStyle/>
                    <a:p>
                      <a:r>
                        <a:rPr sz="1300" b="0">
                          <a:solidFill>
                            <a:srgbClr val="1F2A44"/>
                          </a:solidFill>
                          <a:latin typeface="Calibri"/>
                        </a:rPr>
                        <a:t>5.19</a:t>
                      </a:r>
                    </a:p>
                  </a:txBody>
                  <a:tcPr marT="27432" marB="27432">
                    <a:solidFill>
                      <a:srgbClr val="FFFFFF"/>
                    </a:solidFill>
                  </a:tcPr>
                </a:tc>
                <a:tc>
                  <a:txBody>
                    <a:bodyPr/>
                    <a:lstStyle/>
                    <a:p>
                      <a:r>
                        <a:rPr sz="1300" b="0">
                          <a:solidFill>
                            <a:srgbClr val="1F2A44"/>
                          </a:solidFill>
                          <a:latin typeface="Calibri"/>
                        </a:rPr>
                        <a:t>&lt; 0.001</a:t>
                      </a:r>
                    </a:p>
                  </a:txBody>
                  <a:tcPr marT="27432" marB="27432">
                    <a:solidFill>
                      <a:srgbClr val="FFFFFF"/>
                    </a:solidFill>
                  </a:tcPr>
                </a:tc>
                <a:extLst>
                  <a:ext uri="{0D108BD9-81ED-4DB2-BD59-A6C34878D82A}">
                    <a16:rowId xmlns:a16="http://schemas.microsoft.com/office/drawing/2014/main" val="10007"/>
                  </a:ext>
                </a:extLst>
              </a:tr>
              <a:tr h="329184">
                <a:tc>
                  <a:txBody>
                    <a:bodyPr/>
                    <a:lstStyle/>
                    <a:p>
                      <a:r>
                        <a:rPr sz="1300" b="0">
                          <a:solidFill>
                            <a:srgbClr val="1F2A44"/>
                          </a:solidFill>
                          <a:latin typeface="Calibri"/>
                        </a:rPr>
                        <a:t>JobSatisfaction</a:t>
                      </a:r>
                    </a:p>
                  </a:txBody>
                  <a:tcPr marT="27432" marB="27432">
                    <a:solidFill>
                      <a:srgbClr val="EEF1F5"/>
                    </a:solidFill>
                  </a:tcPr>
                </a:tc>
                <a:tc>
                  <a:txBody>
                    <a:bodyPr/>
                    <a:lstStyle/>
                    <a:p>
                      <a:r>
                        <a:rPr sz="1300" b="0">
                          <a:solidFill>
                            <a:srgbClr val="1F2A44"/>
                          </a:solidFill>
                          <a:latin typeface="Calibri"/>
                        </a:rPr>
                        <a:t>2.76</a:t>
                      </a:r>
                    </a:p>
                  </a:txBody>
                  <a:tcPr marT="27432" marB="27432">
                    <a:solidFill>
                      <a:srgbClr val="EEF1F5"/>
                    </a:solidFill>
                  </a:tcPr>
                </a:tc>
                <a:tc>
                  <a:txBody>
                    <a:bodyPr/>
                    <a:lstStyle/>
                    <a:p>
                      <a:r>
                        <a:rPr sz="1300" b="0">
                          <a:solidFill>
                            <a:srgbClr val="1F2A44"/>
                          </a:solidFill>
                          <a:latin typeface="Calibri"/>
                        </a:rPr>
                        <a:t>2.44</a:t>
                      </a:r>
                    </a:p>
                  </a:txBody>
                  <a:tcPr marT="27432" marB="27432">
                    <a:solidFill>
                      <a:srgbClr val="EEF1F5"/>
                    </a:solidFill>
                  </a:tcPr>
                </a:tc>
                <a:tc>
                  <a:txBody>
                    <a:bodyPr/>
                    <a:lstStyle/>
                    <a:p>
                      <a:r>
                        <a:rPr sz="1300" b="0">
                          <a:solidFill>
                            <a:srgbClr val="1F2A44"/>
                          </a:solidFill>
                          <a:latin typeface="Calibri"/>
                        </a:rPr>
                        <a:t>0.0015</a:t>
                      </a:r>
                    </a:p>
                  </a:txBody>
                  <a:tcPr marT="27432" marB="27432">
                    <a:solidFill>
                      <a:srgbClr val="EEF1F5"/>
                    </a:solidFill>
                  </a:tcPr>
                </a:tc>
                <a:extLst>
                  <a:ext uri="{0D108BD9-81ED-4DB2-BD59-A6C34878D82A}">
                    <a16:rowId xmlns:a16="http://schemas.microsoft.com/office/drawing/2014/main" val="10008"/>
                  </a:ext>
                </a:extLst>
              </a:tr>
              <a:tr h="329184">
                <a:tc>
                  <a:txBody>
                    <a:bodyPr/>
                    <a:lstStyle/>
                    <a:p>
                      <a:r>
                        <a:rPr sz="1300" b="0">
                          <a:solidFill>
                            <a:srgbClr val="1F2A44"/>
                          </a:solidFill>
                          <a:latin typeface="Calibri"/>
                        </a:rPr>
                        <a:t>DistanceFromHome</a:t>
                      </a:r>
                    </a:p>
                  </a:txBody>
                  <a:tcPr marT="27432" marB="27432">
                    <a:solidFill>
                      <a:srgbClr val="FFFFFF"/>
                    </a:solidFill>
                  </a:tcPr>
                </a:tc>
                <a:tc>
                  <a:txBody>
                    <a:bodyPr/>
                    <a:lstStyle/>
                    <a:p>
                      <a:r>
                        <a:rPr sz="1300" b="0">
                          <a:solidFill>
                            <a:srgbClr val="1F2A44"/>
                          </a:solidFill>
                          <a:latin typeface="Calibri"/>
                        </a:rPr>
                        <a:t>9.03</a:t>
                      </a:r>
                    </a:p>
                  </a:txBody>
                  <a:tcPr marT="27432" marB="27432">
                    <a:solidFill>
                      <a:srgbClr val="FFFFFF"/>
                    </a:solidFill>
                  </a:tcPr>
                </a:tc>
                <a:tc>
                  <a:txBody>
                    <a:bodyPr/>
                    <a:lstStyle/>
                    <a:p>
                      <a:r>
                        <a:rPr sz="1300" b="0">
                          <a:solidFill>
                            <a:srgbClr val="1F2A44"/>
                          </a:solidFill>
                          <a:latin typeface="Calibri"/>
                        </a:rPr>
                        <a:t>10.96</a:t>
                      </a:r>
                    </a:p>
                  </a:txBody>
                  <a:tcPr marT="27432" marB="27432">
                    <a:solidFill>
                      <a:srgbClr val="FFFFFF"/>
                    </a:solidFill>
                  </a:tcPr>
                </a:tc>
                <a:tc>
                  <a:txBody>
                    <a:bodyPr/>
                    <a:lstStyle/>
                    <a:p>
                      <a:r>
                        <a:rPr sz="1300" b="0">
                          <a:solidFill>
                            <a:srgbClr val="1F2A44"/>
                          </a:solidFill>
                          <a:latin typeface="Calibri"/>
                        </a:rPr>
                        <a:t>0.016</a:t>
                      </a:r>
                    </a:p>
                  </a:txBody>
                  <a:tcPr marT="27432" marB="27432">
                    <a:solidFill>
                      <a:srgbClr val="FFFFFF"/>
                    </a:solidFill>
                  </a:tcPr>
                </a:tc>
                <a:extLst>
                  <a:ext uri="{0D108BD9-81ED-4DB2-BD59-A6C34878D82A}">
                    <a16:rowId xmlns:a16="http://schemas.microsoft.com/office/drawing/2014/main" val="10009"/>
                  </a:ext>
                </a:extLst>
              </a:tr>
              <a:tr h="329184">
                <a:tc>
                  <a:txBody>
                    <a:bodyPr/>
                    <a:lstStyle/>
                    <a:p>
                      <a:r>
                        <a:rPr sz="1300" b="0">
                          <a:solidFill>
                            <a:srgbClr val="1F2A44"/>
                          </a:solidFill>
                          <a:latin typeface="Calibri"/>
                        </a:rPr>
                        <a:t>WorkLifeBalance</a:t>
                      </a:r>
                    </a:p>
                  </a:txBody>
                  <a:tcPr marT="27432" marB="27432">
                    <a:solidFill>
                      <a:srgbClr val="EEF1F5"/>
                    </a:solidFill>
                  </a:tcPr>
                </a:tc>
                <a:tc>
                  <a:txBody>
                    <a:bodyPr/>
                    <a:lstStyle/>
                    <a:p>
                      <a:r>
                        <a:rPr sz="1300" b="0">
                          <a:solidFill>
                            <a:srgbClr val="1F2A44"/>
                          </a:solidFill>
                          <a:latin typeface="Calibri"/>
                        </a:rPr>
                        <a:t>2.81</a:t>
                      </a:r>
                    </a:p>
                  </a:txBody>
                  <a:tcPr marT="27432" marB="27432">
                    <a:solidFill>
                      <a:srgbClr val="EEF1F5"/>
                    </a:solidFill>
                  </a:tcPr>
                </a:tc>
                <a:tc>
                  <a:txBody>
                    <a:bodyPr/>
                    <a:lstStyle/>
                    <a:p>
                      <a:r>
                        <a:rPr sz="1300" b="0">
                          <a:solidFill>
                            <a:srgbClr val="1F2A44"/>
                          </a:solidFill>
                          <a:latin typeface="Calibri"/>
                        </a:rPr>
                        <a:t>2.64</a:t>
                      </a:r>
                    </a:p>
                  </a:txBody>
                  <a:tcPr marT="27432" marB="27432">
                    <a:solidFill>
                      <a:srgbClr val="EEF1F5"/>
                    </a:solidFill>
                  </a:tcPr>
                </a:tc>
                <a:tc>
                  <a:txBody>
                    <a:bodyPr/>
                    <a:lstStyle/>
                    <a:p>
                      <a:r>
                        <a:rPr sz="1300" b="0">
                          <a:solidFill>
                            <a:srgbClr val="1F2A44"/>
                          </a:solidFill>
                          <a:latin typeface="Calibri"/>
                        </a:rPr>
                        <a:t>0.019</a:t>
                      </a:r>
                    </a:p>
                  </a:txBody>
                  <a:tcPr marT="27432" marB="27432">
                    <a:solidFill>
                      <a:srgbClr val="EEF1F5"/>
                    </a:solidFill>
                  </a:tcPr>
                </a:tc>
                <a:extLst>
                  <a:ext uri="{0D108BD9-81ED-4DB2-BD59-A6C34878D82A}">
                    <a16:rowId xmlns:a16="http://schemas.microsoft.com/office/drawing/2014/main" val="10010"/>
                  </a:ext>
                </a:extLst>
              </a:tr>
              <a:tr h="329184">
                <a:tc>
                  <a:txBody>
                    <a:bodyPr/>
                    <a:lstStyle/>
                    <a:p>
                      <a:r>
                        <a:rPr sz="1300" b="0">
                          <a:solidFill>
                            <a:srgbClr val="1F2A44"/>
                          </a:solidFill>
                          <a:latin typeface="Calibri"/>
                        </a:rPr>
                        <a:t>EnvironmentSatisfaction</a:t>
                      </a:r>
                    </a:p>
                  </a:txBody>
                  <a:tcPr marT="27432" marB="27432">
                    <a:solidFill>
                      <a:srgbClr val="FFFFFF"/>
                    </a:solidFill>
                  </a:tcPr>
                </a:tc>
                <a:tc>
                  <a:txBody>
                    <a:bodyPr/>
                    <a:lstStyle/>
                    <a:p>
                      <a:r>
                        <a:rPr sz="1300" b="0">
                          <a:solidFill>
                            <a:srgbClr val="1F2A44"/>
                          </a:solidFill>
                          <a:latin typeface="Calibri"/>
                        </a:rPr>
                        <a:t>2.74</a:t>
                      </a:r>
                    </a:p>
                  </a:txBody>
                  <a:tcPr marT="27432" marB="27432">
                    <a:solidFill>
                      <a:srgbClr val="FFFFFF"/>
                    </a:solidFill>
                  </a:tcPr>
                </a:tc>
                <a:tc>
                  <a:txBody>
                    <a:bodyPr/>
                    <a:lstStyle/>
                    <a:p>
                      <a:r>
                        <a:rPr sz="1300" b="0">
                          <a:solidFill>
                            <a:srgbClr val="1F2A44"/>
                          </a:solidFill>
                          <a:latin typeface="Calibri"/>
                        </a:rPr>
                        <a:t>2.51</a:t>
                      </a:r>
                    </a:p>
                  </a:txBody>
                  <a:tcPr marT="27432" marB="27432">
                    <a:solidFill>
                      <a:srgbClr val="FFFFFF"/>
                    </a:solidFill>
                  </a:tcPr>
                </a:tc>
                <a:tc>
                  <a:txBody>
                    <a:bodyPr/>
                    <a:lstStyle/>
                    <a:p>
                      <a:r>
                        <a:rPr sz="1300" b="0">
                          <a:solidFill>
                            <a:srgbClr val="1F2A44"/>
                          </a:solidFill>
                          <a:latin typeface="Calibri"/>
                        </a:rPr>
                        <a:t>0.034</a:t>
                      </a:r>
                    </a:p>
                  </a:txBody>
                  <a:tcPr marT="27432" marB="27432">
                    <a:solidFill>
                      <a:srgbClr val="FFFFFF"/>
                    </a:solidFill>
                  </a:tcPr>
                </a:tc>
                <a:extLst>
                  <a:ext uri="{0D108BD9-81ED-4DB2-BD59-A6C34878D82A}">
                    <a16:rowId xmlns:a16="http://schemas.microsoft.com/office/drawing/2014/main" val="10011"/>
                  </a:ext>
                </a:extLst>
              </a:tr>
            </a:tbl>
          </a:graphicData>
        </a:graphic>
      </p:graphicFrame>
      <p:sp>
        <p:nvSpPr>
          <p:cNvPr id="32" name="TextBox 31">
            <a:extLst>
              <a:ext uri="{FF2B5EF4-FFF2-40B4-BE49-F238E27FC236}">
                <a16:creationId xmlns:a16="http://schemas.microsoft.com/office/drawing/2014/main" id="{5F91FE81-44C0-51EA-8001-3F4882F7342B}"/>
              </a:ext>
            </a:extLst>
          </p:cNvPr>
          <p:cNvSpPr txBox="1"/>
          <p:nvPr/>
        </p:nvSpPr>
        <p:spPr>
          <a:xfrm>
            <a:off x="7223760" y="1188720"/>
            <a:ext cx="4389120" cy="365760"/>
          </a:xfrm>
          <a:prstGeom prst="rect">
            <a:avLst/>
          </a:prstGeom>
          <a:noFill/>
        </p:spPr>
        <p:txBody>
          <a:bodyPr wrap="square">
            <a:spAutoFit/>
          </a:bodyPr>
          <a:lstStyle/>
          <a:p>
            <a:r>
              <a:rPr sz="1800" b="1" i="0">
                <a:solidFill>
                  <a:srgbClr val="D9661F"/>
                </a:solidFill>
                <a:latin typeface="Cambria"/>
              </a:rPr>
              <a:t>Chi-square tests (categorical features)</a:t>
            </a:r>
          </a:p>
        </p:txBody>
      </p:sp>
      <p:graphicFrame>
        <p:nvGraphicFramePr>
          <p:cNvPr id="34" name="Table 33">
            <a:extLst>
              <a:ext uri="{FF2B5EF4-FFF2-40B4-BE49-F238E27FC236}">
                <a16:creationId xmlns:a16="http://schemas.microsoft.com/office/drawing/2014/main" id="{EDE68A72-5247-7A83-E160-0EE57A47816A}"/>
              </a:ext>
            </a:extLst>
          </p:cNvPr>
          <p:cNvGraphicFramePr>
            <a:graphicFrameLocks noGrp="1"/>
          </p:cNvGraphicFramePr>
          <p:nvPr/>
        </p:nvGraphicFramePr>
        <p:xfrm>
          <a:off x="7223760" y="1645920"/>
          <a:ext cx="4389120" cy="1645920"/>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329184">
                <a:tc>
                  <a:txBody>
                    <a:bodyPr/>
                    <a:lstStyle/>
                    <a:p>
                      <a:r>
                        <a:rPr sz="1300" b="1">
                          <a:solidFill>
                            <a:srgbClr val="FFFFFF"/>
                          </a:solidFill>
                          <a:latin typeface="Calibri"/>
                        </a:rPr>
                        <a:t>Categorical feature</a:t>
                      </a:r>
                    </a:p>
                  </a:txBody>
                  <a:tcPr marT="27432" marB="27432">
                    <a:solidFill>
                      <a:srgbClr val="1F2A44"/>
                    </a:solidFill>
                  </a:tcPr>
                </a:tc>
                <a:tc>
                  <a:txBody>
                    <a:bodyPr/>
                    <a:lstStyle/>
                    <a:p>
                      <a:r>
                        <a:rPr sz="1300" b="1">
                          <a:solidFill>
                            <a:srgbClr val="FFFFFF"/>
                          </a:solidFill>
                          <a:latin typeface="Calibri"/>
                        </a:rPr>
                        <a:t>X-squared</a:t>
                      </a:r>
                    </a:p>
                  </a:txBody>
                  <a:tcPr marT="27432" marB="27432">
                    <a:solidFill>
                      <a:srgbClr val="1F2A44"/>
                    </a:solidFill>
                  </a:tcPr>
                </a:tc>
                <a:tc>
                  <a:txBody>
                    <a:bodyPr/>
                    <a:lstStyle/>
                    <a:p>
                      <a:r>
                        <a:rPr sz="1300" b="1">
                          <a:solidFill>
                            <a:srgbClr val="FFFFFF"/>
                          </a:solidFill>
                          <a:latin typeface="Calibri"/>
                        </a:rPr>
                        <a:t>df</a:t>
                      </a:r>
                    </a:p>
                  </a:txBody>
                  <a:tcPr marT="27432" marB="27432">
                    <a:solidFill>
                      <a:srgbClr val="1F2A44"/>
                    </a:solidFill>
                  </a:tcPr>
                </a:tc>
                <a:tc>
                  <a:txBody>
                    <a:bodyPr/>
                    <a:lstStyle/>
                    <a:p>
                      <a:r>
                        <a:rPr sz="1300" b="1">
                          <a:solidFill>
                            <a:srgbClr val="FFFFFF"/>
                          </a:solidFill>
                          <a:latin typeface="Calibri"/>
                        </a:rPr>
                        <a:t>p-value</a:t>
                      </a:r>
                    </a:p>
                  </a:txBody>
                  <a:tcPr marT="27432" marB="27432">
                    <a:solidFill>
                      <a:srgbClr val="1F2A44"/>
                    </a:solidFill>
                  </a:tcPr>
                </a:tc>
                <a:extLst>
                  <a:ext uri="{0D108BD9-81ED-4DB2-BD59-A6C34878D82A}">
                    <a16:rowId xmlns:a16="http://schemas.microsoft.com/office/drawing/2014/main" val="10000"/>
                  </a:ext>
                </a:extLst>
              </a:tr>
              <a:tr h="329184">
                <a:tc>
                  <a:txBody>
                    <a:bodyPr/>
                    <a:lstStyle/>
                    <a:p>
                      <a:r>
                        <a:rPr sz="1300" b="0">
                          <a:solidFill>
                            <a:srgbClr val="1F2A44"/>
                          </a:solidFill>
                          <a:latin typeface="Calibri"/>
                        </a:rPr>
                        <a:t>JobRole</a:t>
                      </a:r>
                    </a:p>
                  </a:txBody>
                  <a:tcPr marT="27432" marB="27432">
                    <a:solidFill>
                      <a:srgbClr val="FFFFFF"/>
                    </a:solidFill>
                  </a:tcPr>
                </a:tc>
                <a:tc>
                  <a:txBody>
                    <a:bodyPr/>
                    <a:lstStyle/>
                    <a:p>
                      <a:r>
                        <a:rPr sz="1300" b="0">
                          <a:solidFill>
                            <a:srgbClr val="1F2A44"/>
                          </a:solidFill>
                          <a:latin typeface="Calibri"/>
                        </a:rPr>
                        <a:t>60.54</a:t>
                      </a:r>
                    </a:p>
                  </a:txBody>
                  <a:tcPr marT="27432" marB="27432">
                    <a:solidFill>
                      <a:srgbClr val="FFFFFF"/>
                    </a:solidFill>
                  </a:tcPr>
                </a:tc>
                <a:tc>
                  <a:txBody>
                    <a:bodyPr/>
                    <a:lstStyle/>
                    <a:p>
                      <a:r>
                        <a:rPr sz="1300" b="0">
                          <a:solidFill>
                            <a:srgbClr val="1F2A44"/>
                          </a:solidFill>
                          <a:latin typeface="Calibri"/>
                        </a:rPr>
                        <a:t>8</a:t>
                      </a:r>
                    </a:p>
                  </a:txBody>
                  <a:tcPr marT="27432" marB="27432">
                    <a:solidFill>
                      <a:srgbClr val="FFFFFF"/>
                    </a:solidFill>
                  </a:tcPr>
                </a:tc>
                <a:tc>
                  <a:txBody>
                    <a:bodyPr/>
                    <a:lstStyle/>
                    <a:p>
                      <a:r>
                        <a:rPr sz="1300" b="0">
                          <a:solidFill>
                            <a:srgbClr val="1F2A44"/>
                          </a:solidFill>
                          <a:latin typeface="Calibri"/>
                        </a:rPr>
                        <a:t>&lt; 0.001</a:t>
                      </a:r>
                    </a:p>
                  </a:txBody>
                  <a:tcPr marT="27432" marB="27432">
                    <a:solidFill>
                      <a:srgbClr val="FFFFFF"/>
                    </a:solidFill>
                  </a:tcPr>
                </a:tc>
                <a:extLst>
                  <a:ext uri="{0D108BD9-81ED-4DB2-BD59-A6C34878D82A}">
                    <a16:rowId xmlns:a16="http://schemas.microsoft.com/office/drawing/2014/main" val="10001"/>
                  </a:ext>
                </a:extLst>
              </a:tr>
              <a:tr h="329184">
                <a:tc>
                  <a:txBody>
                    <a:bodyPr/>
                    <a:lstStyle/>
                    <a:p>
                      <a:r>
                        <a:rPr sz="1300" b="0">
                          <a:solidFill>
                            <a:srgbClr val="1F2A44"/>
                          </a:solidFill>
                          <a:latin typeface="Calibri"/>
                        </a:rPr>
                        <a:t>MaritalStatus</a:t>
                      </a:r>
                    </a:p>
                  </a:txBody>
                  <a:tcPr marT="27432" marB="27432">
                    <a:solidFill>
                      <a:srgbClr val="EEF1F5"/>
                    </a:solidFill>
                  </a:tcPr>
                </a:tc>
                <a:tc>
                  <a:txBody>
                    <a:bodyPr/>
                    <a:lstStyle/>
                    <a:p>
                      <a:r>
                        <a:rPr sz="1300" b="0">
                          <a:solidFill>
                            <a:srgbClr val="1F2A44"/>
                          </a:solidFill>
                          <a:latin typeface="Calibri"/>
                        </a:rPr>
                        <a:t>34.41</a:t>
                      </a:r>
                    </a:p>
                  </a:txBody>
                  <a:tcPr marT="27432" marB="27432">
                    <a:solidFill>
                      <a:srgbClr val="EEF1F5"/>
                    </a:solidFill>
                  </a:tcPr>
                </a:tc>
                <a:tc>
                  <a:txBody>
                    <a:bodyPr/>
                    <a:lstStyle/>
                    <a:p>
                      <a:r>
                        <a:rPr sz="1300" b="0">
                          <a:solidFill>
                            <a:srgbClr val="1F2A44"/>
                          </a:solidFill>
                          <a:latin typeface="Calibri"/>
                        </a:rPr>
                        <a:t>2</a:t>
                      </a:r>
                    </a:p>
                  </a:txBody>
                  <a:tcPr marT="27432" marB="27432">
                    <a:solidFill>
                      <a:srgbClr val="EEF1F5"/>
                    </a:solidFill>
                  </a:tcPr>
                </a:tc>
                <a:tc>
                  <a:txBody>
                    <a:bodyPr/>
                    <a:lstStyle/>
                    <a:p>
                      <a:r>
                        <a:rPr sz="1300" b="0">
                          <a:solidFill>
                            <a:srgbClr val="1F2A44"/>
                          </a:solidFill>
                          <a:latin typeface="Calibri"/>
                        </a:rPr>
                        <a:t>&lt; 0.001</a:t>
                      </a:r>
                    </a:p>
                  </a:txBody>
                  <a:tcPr marT="27432" marB="27432">
                    <a:solidFill>
                      <a:srgbClr val="EEF1F5"/>
                    </a:solidFill>
                  </a:tcPr>
                </a:tc>
                <a:extLst>
                  <a:ext uri="{0D108BD9-81ED-4DB2-BD59-A6C34878D82A}">
                    <a16:rowId xmlns:a16="http://schemas.microsoft.com/office/drawing/2014/main" val="10002"/>
                  </a:ext>
                </a:extLst>
              </a:tr>
              <a:tr h="329184">
                <a:tc>
                  <a:txBody>
                    <a:bodyPr/>
                    <a:lstStyle/>
                    <a:p>
                      <a:r>
                        <a:rPr sz="1300" b="0">
                          <a:solidFill>
                            <a:srgbClr val="1F2A44"/>
                          </a:solidFill>
                          <a:latin typeface="Calibri"/>
                        </a:rPr>
                        <a:t>Department</a:t>
                      </a:r>
                    </a:p>
                  </a:txBody>
                  <a:tcPr marT="27432" marB="27432">
                    <a:solidFill>
                      <a:srgbClr val="FFFFFF"/>
                    </a:solidFill>
                  </a:tcPr>
                </a:tc>
                <a:tc>
                  <a:txBody>
                    <a:bodyPr/>
                    <a:lstStyle/>
                    <a:p>
                      <a:r>
                        <a:rPr sz="1300" b="0">
                          <a:solidFill>
                            <a:srgbClr val="1F2A44"/>
                          </a:solidFill>
                          <a:latin typeface="Calibri"/>
                        </a:rPr>
                        <a:t>9.33</a:t>
                      </a:r>
                    </a:p>
                  </a:txBody>
                  <a:tcPr marT="27432" marB="27432">
                    <a:solidFill>
                      <a:srgbClr val="FFFFFF"/>
                    </a:solidFill>
                  </a:tcPr>
                </a:tc>
                <a:tc>
                  <a:txBody>
                    <a:bodyPr/>
                    <a:lstStyle/>
                    <a:p>
                      <a:r>
                        <a:rPr sz="1300" b="0">
                          <a:solidFill>
                            <a:srgbClr val="1F2A44"/>
                          </a:solidFill>
                          <a:latin typeface="Calibri"/>
                        </a:rPr>
                        <a:t>2</a:t>
                      </a:r>
                    </a:p>
                  </a:txBody>
                  <a:tcPr marT="27432" marB="27432">
                    <a:solidFill>
                      <a:srgbClr val="FFFFFF"/>
                    </a:solidFill>
                  </a:tcPr>
                </a:tc>
                <a:tc>
                  <a:txBody>
                    <a:bodyPr/>
                    <a:lstStyle/>
                    <a:p>
                      <a:r>
                        <a:rPr sz="1300" b="0">
                          <a:solidFill>
                            <a:srgbClr val="1F2A44"/>
                          </a:solidFill>
                          <a:latin typeface="Calibri"/>
                        </a:rPr>
                        <a:t>0.009</a:t>
                      </a:r>
                    </a:p>
                  </a:txBody>
                  <a:tcPr marT="27432" marB="27432">
                    <a:solidFill>
                      <a:srgbClr val="FFFFFF"/>
                    </a:solidFill>
                  </a:tcPr>
                </a:tc>
                <a:extLst>
                  <a:ext uri="{0D108BD9-81ED-4DB2-BD59-A6C34878D82A}">
                    <a16:rowId xmlns:a16="http://schemas.microsoft.com/office/drawing/2014/main" val="10003"/>
                  </a:ext>
                </a:extLst>
              </a:tr>
              <a:tr h="329184">
                <a:tc>
                  <a:txBody>
                    <a:bodyPr/>
                    <a:lstStyle/>
                    <a:p>
                      <a:r>
                        <a:rPr sz="1300" b="0">
                          <a:solidFill>
                            <a:srgbClr val="1F2A44"/>
                          </a:solidFill>
                          <a:latin typeface="Calibri"/>
                        </a:rPr>
                        <a:t>BusinessTravel</a:t>
                      </a:r>
                    </a:p>
                  </a:txBody>
                  <a:tcPr marT="27432" marB="27432">
                    <a:solidFill>
                      <a:srgbClr val="EEF1F5"/>
                    </a:solidFill>
                  </a:tcPr>
                </a:tc>
                <a:tc>
                  <a:txBody>
                    <a:bodyPr/>
                    <a:lstStyle/>
                    <a:p>
                      <a:r>
                        <a:rPr sz="1300" b="0">
                          <a:solidFill>
                            <a:srgbClr val="1F2A44"/>
                          </a:solidFill>
                          <a:latin typeface="Calibri"/>
                        </a:rPr>
                        <a:t>5.99</a:t>
                      </a:r>
                    </a:p>
                  </a:txBody>
                  <a:tcPr marT="27432" marB="27432">
                    <a:solidFill>
                      <a:srgbClr val="EEF1F5"/>
                    </a:solidFill>
                  </a:tcPr>
                </a:tc>
                <a:tc>
                  <a:txBody>
                    <a:bodyPr/>
                    <a:lstStyle/>
                    <a:p>
                      <a:r>
                        <a:rPr sz="1300" b="0">
                          <a:solidFill>
                            <a:srgbClr val="1F2A44"/>
                          </a:solidFill>
                          <a:latin typeface="Calibri"/>
                        </a:rPr>
                        <a:t>2</a:t>
                      </a:r>
                    </a:p>
                  </a:txBody>
                  <a:tcPr marT="27432" marB="27432">
                    <a:solidFill>
                      <a:srgbClr val="EEF1F5"/>
                    </a:solidFill>
                  </a:tcPr>
                </a:tc>
                <a:tc>
                  <a:txBody>
                    <a:bodyPr/>
                    <a:lstStyle/>
                    <a:p>
                      <a:r>
                        <a:rPr sz="1300" b="0">
                          <a:solidFill>
                            <a:srgbClr val="1F2A44"/>
                          </a:solidFill>
                          <a:latin typeface="Calibri"/>
                        </a:rPr>
                        <a:t>0.0499</a:t>
                      </a:r>
                    </a:p>
                  </a:txBody>
                  <a:tcPr marT="27432" marB="27432">
                    <a:solidFill>
                      <a:srgbClr val="EEF1F5"/>
                    </a:solidFill>
                  </a:tcPr>
                </a:tc>
                <a:extLst>
                  <a:ext uri="{0D108BD9-81ED-4DB2-BD59-A6C34878D82A}">
                    <a16:rowId xmlns:a16="http://schemas.microsoft.com/office/drawing/2014/main" val="10004"/>
                  </a:ext>
                </a:extLst>
              </a:tr>
            </a:tbl>
          </a:graphicData>
        </a:graphic>
      </p:graphicFrame>
      <p:sp>
        <p:nvSpPr>
          <p:cNvPr id="36" name="Rounded Rectangle 6">
            <a:extLst>
              <a:ext uri="{FF2B5EF4-FFF2-40B4-BE49-F238E27FC236}">
                <a16:creationId xmlns:a16="http://schemas.microsoft.com/office/drawing/2014/main" id="{4D4CC689-FAD0-8C2E-23D4-BB3897E4450A}"/>
              </a:ext>
            </a:extLst>
          </p:cNvPr>
          <p:cNvSpPr/>
          <p:nvPr/>
        </p:nvSpPr>
        <p:spPr>
          <a:xfrm>
            <a:off x="7223760" y="3657600"/>
            <a:ext cx="4389120" cy="1920240"/>
          </a:xfrm>
          <a:prstGeom prst="roundRect">
            <a:avLst>
              <a:gd name="adj" fmla="val 5000"/>
            </a:avLst>
          </a:prstGeom>
          <a:solidFill>
            <a:srgbClr val="EEF1F5"/>
          </a:solidFill>
          <a:ln>
            <a:solidFill>
              <a:srgbClr val="EEF1F5"/>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r>
              <a:rPr sz="1500">
                <a:solidFill>
                  <a:srgbClr val="1F2A44"/>
                </a:solidFill>
                <a:latin typeface="Calibri"/>
              </a:rPr>
              <a:t>All 15 features have p &lt; 0.05, so we reject the null hypothesis that each is unrelated to attrition.</a:t>
            </a:r>
          </a:p>
          <a:p>
            <a:pPr>
              <a:spcBef>
                <a:spcPts val="800"/>
              </a:spcBef>
            </a:pPr>
            <a:r>
              <a:rPr sz="1500">
                <a:solidFill>
                  <a:srgbClr val="1F2A44"/>
                </a:solidFill>
                <a:latin typeface="Calibri"/>
              </a:rPr>
              <a:t>Several overlap: JobLevel, Age and the tenure variables move together, and JobRole sits within Department.</a:t>
            </a:r>
          </a:p>
        </p:txBody>
      </p:sp>
      <p:sp>
        <p:nvSpPr>
          <p:cNvPr id="38" name="TextBox 37">
            <a:extLst>
              <a:ext uri="{FF2B5EF4-FFF2-40B4-BE49-F238E27FC236}">
                <a16:creationId xmlns:a16="http://schemas.microsoft.com/office/drawing/2014/main" id="{10EAE133-F6CA-E34D-9D08-74BE52D13C3D}"/>
              </a:ext>
            </a:extLst>
          </p:cNvPr>
          <p:cNvSpPr txBox="1"/>
          <p:nvPr/>
        </p:nvSpPr>
        <p:spPr>
          <a:xfrm>
            <a:off x="548640" y="6172200"/>
            <a:ext cx="11064240" cy="365760"/>
          </a:xfrm>
          <a:prstGeom prst="rect">
            <a:avLst/>
          </a:prstGeom>
          <a:noFill/>
        </p:spPr>
        <p:txBody>
          <a:bodyPr wrap="square">
            <a:spAutoFit/>
          </a:bodyPr>
          <a:lstStyle/>
          <a:p>
            <a:r>
              <a:rPr sz="1100" b="0" i="1">
                <a:solidFill>
                  <a:srgbClr val="5B6B82"/>
                </a:solidFill>
                <a:latin typeface="Calibri"/>
              </a:rPr>
              <a:t>Welch two-sample t-tests and Pearson's chi-squared tests, α = 0.05. Top 3 factors (OverTime, MonthlyIncome, StockOptionLevel) are covered on their own slides.</a:t>
            </a:r>
          </a:p>
        </p:txBody>
      </p:sp>
    </p:spTree>
    <p:extLst>
      <p:ext uri="{BB962C8B-B14F-4D97-AF65-F5344CB8AC3E}">
        <p14:creationId xmlns:p14="http://schemas.microsoft.com/office/powerpoint/2010/main" val="1202497235"/>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buNone/>
            </a:pPr>
            <a:r>
              <a:rPr lang="en-US" sz="3200" b="1" dirty="0">
                <a:solidFill>
                  <a:schemeClr val="tx1"/>
                </a:solidFill>
              </a:rPr>
              <a:t>Modeling Approach</a:t>
            </a:r>
            <a:endParaRPr lang="en-US" sz="32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latin typeface="+mj-lt"/>
              </a:rPr>
              <a:t>9</a:t>
            </a:fld>
            <a:endParaRPr lang="en-US">
              <a:latin typeface="+mj-lt"/>
            </a:endParaRPr>
          </a:p>
        </p:txBody>
      </p:sp>
      <p:sp>
        <p:nvSpPr>
          <p:cNvPr id="26" name="Rounded Rectangle 25"/>
          <p:cNvSpPr/>
          <p:nvPr/>
        </p:nvSpPr>
        <p:spPr>
          <a:xfrm>
            <a:off x="548640" y="1371600"/>
            <a:ext cx="5440680" cy="3108960"/>
          </a:xfrm>
          <a:prstGeom prst="roundRect">
            <a:avLst>
              <a:gd name="adj" fmla="val 4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59" y="1554480"/>
            <a:ext cx="4892040" cy="457200"/>
          </a:xfrm>
          <a:prstGeom prst="rect">
            <a:avLst/>
          </a:prstGeom>
          <a:noFill/>
        </p:spPr>
        <p:txBody>
          <a:bodyPr wrap="square" lIns="0" tIns="0" rIns="0" bIns="0" anchor="t">
            <a:spAutoFit/>
          </a:bodyPr>
          <a:lstStyle/>
          <a:p>
            <a:r>
              <a:rPr sz="2200" b="1" i="0">
                <a:solidFill>
                  <a:schemeClr val="accent1"/>
                </a:solidFill>
                <a:latin typeface="+mj-lt"/>
              </a:rPr>
              <a:t>K-Nearest Neighbors</a:t>
            </a:r>
          </a:p>
        </p:txBody>
      </p:sp>
      <p:sp>
        <p:nvSpPr>
          <p:cNvPr id="28" name="TextBox 27"/>
          <p:cNvSpPr txBox="1"/>
          <p:nvPr/>
        </p:nvSpPr>
        <p:spPr>
          <a:xfrm>
            <a:off x="822959" y="2148840"/>
            <a:ext cx="4892040" cy="2286000"/>
          </a:xfrm>
          <a:prstGeom prst="rect">
            <a:avLst/>
          </a:prstGeom>
          <a:noFill/>
        </p:spPr>
        <p:txBody>
          <a:bodyPr wrap="square" lIns="0" tIns="0" rIns="0" bIns="0">
            <a:spAutoFit/>
          </a:bodyPr>
          <a:lstStyle/>
          <a:p>
            <a:pPr marL="228600" indent="-228600">
              <a:spcAft>
                <a:spcPts val="800"/>
              </a:spcAft>
              <a:buChar char="•"/>
            </a:pPr>
            <a:r>
              <a:rPr sz="1600" b="0" i="0">
                <a:solidFill>
                  <a:schemeClr val="tx1"/>
                </a:solidFill>
                <a:latin typeface="+mj-lt"/>
              </a:rPr>
              <a:t>18 features: the 13 significant numeric features standardized with scale(), plus 5 yes/no flags</a:t>
            </a:r>
          </a:p>
          <a:p>
            <a:pPr marL="228600" indent="-228600">
              <a:spcAft>
                <a:spcPts val="800"/>
              </a:spcAft>
              <a:buChar char="•"/>
            </a:pPr>
            <a:r>
              <a:rPr sz="1600" b="0" i="0">
                <a:solidFill>
                  <a:schemeClr val="tx1"/>
                </a:solidFill>
                <a:latin typeface="+mj-lt"/>
              </a:rPr>
              <a:t>Flags mark the highest-risk group: overtime, single, sales representative, sales department, frequent travel</a:t>
            </a:r>
          </a:p>
          <a:p>
            <a:pPr marL="228600" indent="-228600">
              <a:spcAft>
                <a:spcPts val="800"/>
              </a:spcAft>
              <a:buChar char="•"/>
            </a:pPr>
            <a:r>
              <a:rPr sz="1600" b="0" i="0">
                <a:solidFill>
                  <a:schemeClr val="tx1"/>
                </a:solidFill>
                <a:latin typeface="+mj-lt"/>
              </a:rPr>
              <a:t>Tuned k (3 to 25) and the cutoff for 'Yes', averaged over 50 random splits per k</a:t>
            </a:r>
          </a:p>
        </p:txBody>
      </p:sp>
      <p:sp>
        <p:nvSpPr>
          <p:cNvPr id="29" name="Rounded Rectangle 28"/>
          <p:cNvSpPr/>
          <p:nvPr/>
        </p:nvSpPr>
        <p:spPr>
          <a:xfrm>
            <a:off x="6172200" y="1371600"/>
            <a:ext cx="5440680" cy="3108960"/>
          </a:xfrm>
          <a:prstGeom prst="roundRect">
            <a:avLst>
              <a:gd name="adj" fmla="val 4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46520" y="1554480"/>
            <a:ext cx="4892040" cy="457200"/>
          </a:xfrm>
          <a:prstGeom prst="rect">
            <a:avLst/>
          </a:prstGeom>
          <a:noFill/>
        </p:spPr>
        <p:txBody>
          <a:bodyPr wrap="square" lIns="0" tIns="0" rIns="0" bIns="0" anchor="t">
            <a:spAutoFit/>
          </a:bodyPr>
          <a:lstStyle/>
          <a:p>
            <a:r>
              <a:rPr sz="2200" b="1" i="0">
                <a:solidFill>
                  <a:schemeClr val="accent1"/>
                </a:solidFill>
                <a:latin typeface="+mj-lt"/>
              </a:rPr>
              <a:t>Naive Bayes</a:t>
            </a:r>
          </a:p>
        </p:txBody>
      </p:sp>
      <p:sp>
        <p:nvSpPr>
          <p:cNvPr id="31" name="TextBox 30"/>
          <p:cNvSpPr txBox="1"/>
          <p:nvPr/>
        </p:nvSpPr>
        <p:spPr>
          <a:xfrm>
            <a:off x="6446520" y="2148840"/>
            <a:ext cx="4892040" cy="2286000"/>
          </a:xfrm>
          <a:prstGeom prst="rect">
            <a:avLst/>
          </a:prstGeom>
          <a:noFill/>
        </p:spPr>
        <p:txBody>
          <a:bodyPr wrap="square" lIns="0" tIns="0" rIns="0" bIns="0">
            <a:spAutoFit/>
          </a:bodyPr>
          <a:lstStyle/>
          <a:p>
            <a:pPr marL="228600" indent="-228600">
              <a:spcAft>
                <a:spcPts val="800"/>
              </a:spcAft>
              <a:buChar char="•"/>
            </a:pPr>
            <a:r>
              <a:rPr sz="1600" b="0" i="0">
                <a:solidFill>
                  <a:schemeClr val="tx1"/>
                </a:solidFill>
                <a:latin typeface="+mj-lt"/>
              </a:rPr>
              <a:t>The same 18 significant features, used directly (categories need no conversion)</a:t>
            </a:r>
          </a:p>
          <a:p>
            <a:pPr marL="228600" indent="-228600">
              <a:spcAft>
                <a:spcPts val="800"/>
              </a:spcAft>
              <a:buChar char="•"/>
            </a:pPr>
            <a:r>
              <a:rPr sz="1600" b="0" i="0">
                <a:solidFill>
                  <a:schemeClr val="tx1"/>
                </a:solidFill>
                <a:latin typeface="+mj-lt"/>
              </a:rPr>
              <a:t>Laplace smoothing = 1</a:t>
            </a:r>
          </a:p>
          <a:p>
            <a:pPr marL="228600" indent="-228600">
              <a:spcAft>
                <a:spcPts val="800"/>
              </a:spcAft>
              <a:buChar char="•"/>
            </a:pPr>
            <a:r>
              <a:rPr sz="1600" b="0" i="0">
                <a:solidFill>
                  <a:schemeClr val="tx1"/>
                </a:solidFill>
                <a:latin typeface="+mj-lt"/>
              </a:rPr>
              <a:t>Tuned the cutoff for 'Yes', averaged over 100 random splits</a:t>
            </a:r>
          </a:p>
        </p:txBody>
      </p:sp>
      <p:sp>
        <p:nvSpPr>
          <p:cNvPr id="32" name="Rounded Rectangle 31"/>
          <p:cNvSpPr/>
          <p:nvPr/>
        </p:nvSpPr>
        <p:spPr>
          <a:xfrm>
            <a:off x="548640" y="4754880"/>
            <a:ext cx="11064240" cy="1051560"/>
          </a:xfrm>
          <a:prstGeom prst="roundRect">
            <a:avLst>
              <a:gd name="adj" fmla="val 4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2960" y="4754880"/>
            <a:ext cx="10515600" cy="1051560"/>
          </a:xfrm>
          <a:prstGeom prst="rect">
            <a:avLst/>
          </a:prstGeom>
          <a:noFill/>
        </p:spPr>
        <p:txBody>
          <a:bodyPr wrap="square" lIns="0" tIns="0" rIns="0" bIns="0" anchor="ctr">
            <a:spAutoFit/>
          </a:bodyPr>
          <a:lstStyle/>
          <a:p>
            <a:r>
              <a:rPr sz="1600" b="0" i="0">
                <a:solidFill>
                  <a:schemeClr val="bg1"/>
                </a:solidFill>
                <a:latin typeface="+mj-lt"/>
              </a:rPr>
              <a:t>Both models: 70/30 train/test split. Positive class = 'Yes' (employee left), so sensitivity = the share of real leavers the model catches.</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500"/>
                                        <p:tgtEl>
                                          <p:spTgt spid="2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500"/>
                                        <p:tgtEl>
                                          <p:spTgt spid="3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fade">
                                      <p:cBhvr>
                                        <p:cTn id="24" dur="500"/>
                                        <p:tgtEl>
                                          <p:spTgt spid="3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500"/>
                                        <p:tgtEl>
                                          <p:spTgt spid="3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P spid="32" grpId="0" animBg="1"/>
      <p:bldP spid="3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buNone/>
            </a:pPr>
            <a:r>
              <a:rPr lang="en-US" sz="3200" b="1" dirty="0">
                <a:solidFill>
                  <a:schemeClr val="tx1"/>
                </a:solidFill>
              </a:rPr>
              <a:t>What Sensitivity and Specificity Mean for Frito‑Lay</a:t>
            </a:r>
            <a:endParaRPr lang="en-US" sz="3200" dirty="0"/>
          </a:p>
        </p:txBody>
      </p:sp>
      <p:sp>
        <p:nvSpPr>
          <p:cNvPr id="3" name="Shape 1"/>
          <p:cNvSpPr/>
          <p:nvPr/>
        </p:nvSpPr>
        <p:spPr>
          <a:xfrm>
            <a:off x="548640" y="1463040"/>
            <a:ext cx="5440680" cy="3017520"/>
          </a:xfrm>
          <a:prstGeom prst="roundRect">
            <a:avLst>
              <a:gd name="adj" fmla="val 2424"/>
            </a:avLst>
          </a:prstGeom>
          <a:solidFill>
            <a:schemeClr val="bg2"/>
          </a:solidFill>
          <a:ln w="12700">
            <a:solidFill>
              <a:schemeClr val="bg2"/>
            </a:solidFill>
            <a:prstDash val="solid"/>
          </a:ln>
        </p:spPr>
        <p:txBody>
          <a:bodyPr/>
          <a:lstStyle/>
          <a:p>
            <a:endParaRPr lang="en-US">
              <a:latin typeface="+mj-lt"/>
            </a:endParaRPr>
          </a:p>
        </p:txBody>
      </p:sp>
      <p:sp>
        <p:nvSpPr>
          <p:cNvPr id="4" name="Text 2"/>
          <p:cNvSpPr txBox="1"/>
          <p:nvPr/>
        </p:nvSpPr>
        <p:spPr>
          <a:xfrm>
            <a:off x="822960" y="1645920"/>
            <a:ext cx="4892040" cy="548640"/>
          </a:xfrm>
          <a:prstGeom prst="rect">
            <a:avLst/>
          </a:prstGeom>
          <a:noFill/>
          <a:ln/>
        </p:spPr>
        <p:txBody>
          <a:bodyPr wrap="square" lIns="0" tIns="0" rIns="0" bIns="0" rtlCol="0" anchor="ctr"/>
          <a:lstStyle/>
          <a:p>
            <a:pPr marL="0" indent="0">
              <a:buNone/>
            </a:pPr>
            <a:r>
              <a:rPr lang="en-US" sz="2400" b="1" dirty="0">
                <a:solidFill>
                  <a:schemeClr val="accent1"/>
                </a:solidFill>
                <a:latin typeface="+mj-lt"/>
                <a:ea typeface="Cambria" pitchFamily="34" charset="-122"/>
                <a:cs typeface="Cambria" pitchFamily="34" charset="-120"/>
              </a:rPr>
              <a:t>Sensitivity</a:t>
            </a:r>
            <a:endParaRPr lang="en-US" sz="2400" dirty="0">
              <a:latin typeface="+mj-lt"/>
            </a:endParaRPr>
          </a:p>
        </p:txBody>
      </p:sp>
      <p:sp>
        <p:nvSpPr>
          <p:cNvPr id="5" name="Text 3"/>
          <p:cNvSpPr txBox="1"/>
          <p:nvPr/>
        </p:nvSpPr>
        <p:spPr>
          <a:xfrm>
            <a:off x="822960" y="2286000"/>
            <a:ext cx="4892040" cy="1005840"/>
          </a:xfrm>
          <a:prstGeom prst="rect">
            <a:avLst/>
          </a:prstGeom>
          <a:noFill/>
          <a:ln/>
        </p:spPr>
        <p:txBody>
          <a:bodyPr wrap="square" lIns="0" tIns="0" rIns="0" bIns="0" rtlCol="0" anchor="t"/>
          <a:lstStyle/>
          <a:p>
            <a:pPr marL="0" indent="0">
              <a:buNone/>
            </a:pPr>
            <a:r>
              <a:rPr lang="en-US" sz="1600" b="1" dirty="0">
                <a:solidFill>
                  <a:schemeClr val="tx1"/>
                </a:solidFill>
                <a:latin typeface="+mj-lt"/>
              </a:rPr>
              <a:t>Of the employees who actually left, the share the model flagged.</a:t>
            </a:r>
            <a:endParaRPr lang="en-US" sz="1600" dirty="0">
              <a:latin typeface="+mj-lt"/>
            </a:endParaRPr>
          </a:p>
        </p:txBody>
      </p:sp>
      <p:sp>
        <p:nvSpPr>
          <p:cNvPr id="6" name="Text 4"/>
          <p:cNvSpPr txBox="1"/>
          <p:nvPr/>
        </p:nvSpPr>
        <p:spPr>
          <a:xfrm>
            <a:off x="822960" y="3246120"/>
            <a:ext cx="4892040" cy="1097280"/>
          </a:xfrm>
          <a:prstGeom prst="rect">
            <a:avLst/>
          </a:prstGeom>
          <a:noFill/>
          <a:ln/>
        </p:spPr>
        <p:txBody>
          <a:bodyPr wrap="square" lIns="0" tIns="0" rIns="0" bIns="0" rtlCol="0" anchor="t"/>
          <a:lstStyle/>
          <a:p>
            <a:pPr marL="0" indent="0">
              <a:buNone/>
            </a:pPr>
            <a:r>
              <a:rPr lang="en-US" sz="1600" dirty="0">
                <a:solidFill>
                  <a:schemeClr val="tx1"/>
                </a:solidFill>
                <a:latin typeface="+mj-lt"/>
              </a:rPr>
              <a:t>A false negative means no chance to intervene. Replacing that employee costs 50% to 400% of their salary.</a:t>
            </a:r>
            <a:endParaRPr lang="en-US" sz="1600" dirty="0">
              <a:latin typeface="+mj-lt"/>
            </a:endParaRPr>
          </a:p>
        </p:txBody>
      </p:sp>
      <p:sp>
        <p:nvSpPr>
          <p:cNvPr id="7" name="Shape 5"/>
          <p:cNvSpPr/>
          <p:nvPr/>
        </p:nvSpPr>
        <p:spPr>
          <a:xfrm>
            <a:off x="6172200" y="1463040"/>
            <a:ext cx="5440680" cy="3017520"/>
          </a:xfrm>
          <a:prstGeom prst="roundRect">
            <a:avLst>
              <a:gd name="adj" fmla="val 2424"/>
            </a:avLst>
          </a:prstGeom>
          <a:solidFill>
            <a:schemeClr val="bg2"/>
          </a:solidFill>
          <a:ln w="12700">
            <a:solidFill>
              <a:schemeClr val="bg2"/>
            </a:solidFill>
            <a:prstDash val="solid"/>
          </a:ln>
        </p:spPr>
        <p:txBody>
          <a:bodyPr/>
          <a:lstStyle/>
          <a:p>
            <a:endParaRPr lang="en-US">
              <a:latin typeface="+mj-lt"/>
            </a:endParaRPr>
          </a:p>
        </p:txBody>
      </p:sp>
      <p:sp>
        <p:nvSpPr>
          <p:cNvPr id="8" name="Text 6"/>
          <p:cNvSpPr txBox="1"/>
          <p:nvPr/>
        </p:nvSpPr>
        <p:spPr>
          <a:xfrm>
            <a:off x="6446520" y="1645920"/>
            <a:ext cx="4892040" cy="548640"/>
          </a:xfrm>
          <a:prstGeom prst="rect">
            <a:avLst/>
          </a:prstGeom>
          <a:noFill/>
          <a:ln/>
        </p:spPr>
        <p:txBody>
          <a:bodyPr wrap="square" lIns="0" tIns="0" rIns="0" bIns="0" rtlCol="0" anchor="ctr"/>
          <a:lstStyle/>
          <a:p>
            <a:pPr marL="0" indent="0">
              <a:buNone/>
            </a:pPr>
            <a:r>
              <a:rPr lang="en-US" sz="2400" b="1" dirty="0">
                <a:solidFill>
                  <a:schemeClr val="accent5"/>
                </a:solidFill>
                <a:latin typeface="+mj-lt"/>
                <a:ea typeface="Cambria" pitchFamily="34" charset="-122"/>
                <a:cs typeface="Cambria" pitchFamily="34" charset="-120"/>
              </a:rPr>
              <a:t>Specificity</a:t>
            </a:r>
            <a:endParaRPr lang="en-US" sz="2400" dirty="0">
              <a:latin typeface="+mj-lt"/>
            </a:endParaRPr>
          </a:p>
        </p:txBody>
      </p:sp>
      <p:sp>
        <p:nvSpPr>
          <p:cNvPr id="9" name="Text 7"/>
          <p:cNvSpPr txBox="1"/>
          <p:nvPr/>
        </p:nvSpPr>
        <p:spPr>
          <a:xfrm>
            <a:off x="6446520" y="2286000"/>
            <a:ext cx="4892040" cy="1005840"/>
          </a:xfrm>
          <a:prstGeom prst="rect">
            <a:avLst/>
          </a:prstGeom>
          <a:noFill/>
          <a:ln/>
        </p:spPr>
        <p:txBody>
          <a:bodyPr wrap="square" lIns="0" tIns="0" rIns="0" bIns="0" rtlCol="0" anchor="t"/>
          <a:lstStyle/>
          <a:p>
            <a:pPr marL="0" indent="0">
              <a:buNone/>
            </a:pPr>
            <a:r>
              <a:rPr lang="en-US" sz="1600" b="1" dirty="0">
                <a:solidFill>
                  <a:schemeClr val="tx1"/>
                </a:solidFill>
                <a:latin typeface="+mj-lt"/>
              </a:rPr>
              <a:t>Of the employees who stayed, the share the model correctly left alone.</a:t>
            </a:r>
            <a:endParaRPr lang="en-US" sz="1600" dirty="0">
              <a:latin typeface="+mj-lt"/>
            </a:endParaRPr>
          </a:p>
        </p:txBody>
      </p:sp>
      <p:sp>
        <p:nvSpPr>
          <p:cNvPr id="10" name="Text 8"/>
          <p:cNvSpPr txBox="1"/>
          <p:nvPr/>
        </p:nvSpPr>
        <p:spPr>
          <a:xfrm>
            <a:off x="6446520" y="3246120"/>
            <a:ext cx="4892040" cy="1097280"/>
          </a:xfrm>
          <a:prstGeom prst="rect">
            <a:avLst/>
          </a:prstGeom>
          <a:noFill/>
          <a:ln/>
        </p:spPr>
        <p:txBody>
          <a:bodyPr wrap="square" lIns="0" tIns="0" rIns="0" bIns="0" rtlCol="0" anchor="t"/>
          <a:lstStyle/>
          <a:p>
            <a:pPr marL="0" indent="0">
              <a:buNone/>
            </a:pPr>
            <a:r>
              <a:rPr lang="en-US" sz="1600" dirty="0">
                <a:solidFill>
                  <a:schemeClr val="tx1"/>
                </a:solidFill>
                <a:latin typeface="+mj-lt"/>
              </a:rPr>
              <a:t>A false positive means paying a $200 incentive to someone who was not leaving.</a:t>
            </a:r>
            <a:endParaRPr lang="en-US" sz="1600" dirty="0">
              <a:latin typeface="+mj-lt"/>
            </a:endParaRPr>
          </a:p>
        </p:txBody>
      </p:sp>
      <p:sp>
        <p:nvSpPr>
          <p:cNvPr id="11" name="Text 9"/>
          <p:cNvSpPr txBox="1"/>
          <p:nvPr/>
        </p:nvSpPr>
        <p:spPr>
          <a:xfrm>
            <a:off x="548640" y="4800600"/>
            <a:ext cx="11064240" cy="1005840"/>
          </a:xfrm>
          <a:prstGeom prst="rect">
            <a:avLst/>
          </a:prstGeom>
          <a:noFill/>
          <a:ln/>
        </p:spPr>
        <p:txBody>
          <a:bodyPr wrap="square" lIns="0" tIns="0" rIns="0" bIns="0" rtlCol="0" anchor="t"/>
          <a:lstStyle/>
          <a:p>
            <a:pPr marL="0" indent="0">
              <a:buNone/>
            </a:pPr>
            <a:r>
              <a:rPr lang="en-US" sz="1700" dirty="0">
                <a:solidFill>
                  <a:schemeClr val="tx1"/>
                </a:solidFill>
                <a:latin typeface="+mj-lt"/>
              </a:rPr>
              <a:t>A missed leaver costs far more than a false alarm, so it is worth giving up some specificity to raise sensitivity. Example: the KNN cutoff change added 18 false alarms ($3,600) to catch 6 more leavers.</a:t>
            </a:r>
            <a:endParaRPr lang="en-US" sz="1700" dirty="0">
              <a:latin typeface="+mj-lt"/>
            </a:endParaRPr>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buNone/>
            </a:pPr>
            <a:r>
              <a:rPr lang="en-US" sz="3200" b="1" dirty="0">
                <a:solidFill>
                  <a:schemeClr val="tx1"/>
                </a:solidFill>
                <a:latin typeface="Bahnschrift Light" panose="020B0502040204020203" pitchFamily="34" charset="0"/>
              </a:rPr>
              <a:t>KNN: Tuning k and Lowering the Cutoff</a:t>
            </a:r>
            <a:endParaRPr lang="en-US" sz="3200" dirty="0">
              <a:latin typeface="Bahnschrift Light" panose="020B0502040204020203" pitchFamily="34" charset="0"/>
            </a:endParaRPr>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11</a:t>
            </a:fld>
            <a:endParaRPr lang="en-US"/>
          </a:p>
        </p:txBody>
      </p:sp>
      <p:pic>
        <p:nvPicPr>
          <p:cNvPr id="3" name="Picture 2">
            <a:extLst>
              <a:ext uri="{FF2B5EF4-FFF2-40B4-BE49-F238E27FC236}">
                <a16:creationId xmlns:a16="http://schemas.microsoft.com/office/drawing/2014/main" id="{B7686186-83D7-BB04-9A3B-FDD9D2276C0A}"/>
              </a:ext>
            </a:extLst>
          </p:cNvPr>
          <p:cNvPicPr>
            <a:picLocks noChangeAspect="1"/>
          </p:cNvPicPr>
          <p:nvPr/>
        </p:nvPicPr>
        <p:blipFill>
          <a:blip r:embed="rId3"/>
          <a:stretch>
            <a:fillRect/>
          </a:stretch>
        </p:blipFill>
        <p:spPr>
          <a:xfrm>
            <a:off x="548640" y="1371600"/>
            <a:ext cx="5760721" cy="4114800"/>
          </a:xfrm>
          <a:prstGeom prst="rect">
            <a:avLst/>
          </a:prstGeom>
        </p:spPr>
      </p:pic>
      <p:graphicFrame>
        <p:nvGraphicFramePr>
          <p:cNvPr id="7" name="Table 6">
            <a:extLst>
              <a:ext uri="{FF2B5EF4-FFF2-40B4-BE49-F238E27FC236}">
                <a16:creationId xmlns:a16="http://schemas.microsoft.com/office/drawing/2014/main" id="{84AC23CA-7539-EF06-4D04-A27F4464AE70}"/>
              </a:ext>
            </a:extLst>
          </p:cNvPr>
          <p:cNvGraphicFramePr>
            <a:graphicFrameLocks noGrp="1"/>
          </p:cNvGraphicFramePr>
          <p:nvPr/>
        </p:nvGraphicFramePr>
        <p:xfrm>
          <a:off x="6858000" y="1417320"/>
          <a:ext cx="4754880" cy="20574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411480">
                <a:tc>
                  <a:txBody>
                    <a:bodyPr/>
                    <a:lstStyle/>
                    <a:p>
                      <a:r>
                        <a:rPr sz="1400" b="1" i="0">
                          <a:solidFill>
                            <a:srgbClr val="FFFFFF"/>
                          </a:solidFill>
                          <a:latin typeface="Calibri"/>
                        </a:rPr>
                        <a:t>Cutoff 0.5</a:t>
                      </a:r>
                    </a:p>
                  </a:txBody>
                  <a:tcPr anchor="ctr">
                    <a:solidFill>
                      <a:srgbClr val="1F2A44"/>
                    </a:solidFill>
                  </a:tcPr>
                </a:tc>
                <a:tc>
                  <a:txBody>
                    <a:bodyPr/>
                    <a:lstStyle/>
                    <a:p>
                      <a:r>
                        <a:rPr sz="1400" b="1" i="0">
                          <a:solidFill>
                            <a:srgbClr val="FFFFFF"/>
                          </a:solidFill>
                          <a:latin typeface="Calibri"/>
                        </a:rPr>
                        <a:t>KNN (k = 5)</a:t>
                      </a:r>
                    </a:p>
                  </a:txBody>
                  <a:tcPr anchor="ctr">
                    <a:solidFill>
                      <a:srgbClr val="1F2A44"/>
                    </a:solidFill>
                  </a:tcPr>
                </a:tc>
                <a:tc>
                  <a:txBody>
                    <a:bodyPr/>
                    <a:lstStyle/>
                    <a:p>
                      <a:r>
                        <a:rPr sz="1400" b="1" i="0">
                          <a:solidFill>
                            <a:srgbClr val="FFFFFF"/>
                          </a:solidFill>
                          <a:latin typeface="Calibri"/>
                        </a:rPr>
                        <a:t>Naive Bayes</a:t>
                      </a:r>
                    </a:p>
                  </a:txBody>
                  <a:tcPr anchor="ctr">
                    <a:solidFill>
                      <a:srgbClr val="1F2A44"/>
                    </a:solidFill>
                  </a:tcPr>
                </a:tc>
                <a:extLst>
                  <a:ext uri="{0D108BD9-81ED-4DB2-BD59-A6C34878D82A}">
                    <a16:rowId xmlns:a16="http://schemas.microsoft.com/office/drawing/2014/main" val="10000"/>
                  </a:ext>
                </a:extLst>
              </a:tr>
              <a:tr h="411480">
                <a:tc>
                  <a:txBody>
                    <a:bodyPr/>
                    <a:lstStyle/>
                    <a:p>
                      <a:r>
                        <a:rPr sz="1400" b="0" i="0">
                          <a:solidFill>
                            <a:srgbClr val="1F2A44"/>
                          </a:solidFill>
                          <a:latin typeface="Calibri"/>
                        </a:rPr>
                        <a:t>Accuracy</a:t>
                      </a:r>
                    </a:p>
                  </a:txBody>
                  <a:tcPr anchor="ctr">
                    <a:solidFill>
                      <a:srgbClr val="FFFFFF"/>
                    </a:solidFill>
                  </a:tcPr>
                </a:tc>
                <a:tc>
                  <a:txBody>
                    <a:bodyPr/>
                    <a:lstStyle/>
                    <a:p>
                      <a:r>
                        <a:rPr sz="1400" b="0" i="0">
                          <a:solidFill>
                            <a:srgbClr val="1F2A44"/>
                          </a:solidFill>
                          <a:latin typeface="Calibri"/>
                        </a:rPr>
                        <a:t>87.0%</a:t>
                      </a:r>
                    </a:p>
                  </a:txBody>
                  <a:tcPr anchor="ctr">
                    <a:solidFill>
                      <a:srgbClr val="FFFFFF"/>
                    </a:solidFill>
                  </a:tcPr>
                </a:tc>
                <a:tc>
                  <a:txBody>
                    <a:bodyPr/>
                    <a:lstStyle/>
                    <a:p>
                      <a:r>
                        <a:rPr sz="1400" b="0" i="0">
                          <a:solidFill>
                            <a:srgbClr val="1F2A44"/>
                          </a:solidFill>
                          <a:latin typeface="Calibri"/>
                        </a:rPr>
                        <a:t>88.5%</a:t>
                      </a:r>
                    </a:p>
                  </a:txBody>
                  <a:tcPr anchor="ctr">
                    <a:solidFill>
                      <a:srgbClr val="FFFFFF"/>
                    </a:solidFill>
                  </a:tcPr>
                </a:tc>
                <a:extLst>
                  <a:ext uri="{0D108BD9-81ED-4DB2-BD59-A6C34878D82A}">
                    <a16:rowId xmlns:a16="http://schemas.microsoft.com/office/drawing/2014/main" val="10001"/>
                  </a:ext>
                </a:extLst>
              </a:tr>
              <a:tr h="411480">
                <a:tc>
                  <a:txBody>
                    <a:bodyPr/>
                    <a:lstStyle/>
                    <a:p>
                      <a:r>
                        <a:rPr sz="1400" b="0" i="0">
                          <a:solidFill>
                            <a:srgbClr val="1F2A44"/>
                          </a:solidFill>
                          <a:latin typeface="Calibri"/>
                        </a:rPr>
                        <a:t>Sensitivity</a:t>
                      </a:r>
                    </a:p>
                  </a:txBody>
                  <a:tcPr anchor="ctr">
                    <a:solidFill>
                      <a:srgbClr val="EEF1F5"/>
                    </a:solidFill>
                  </a:tcPr>
                </a:tc>
                <a:tc>
                  <a:txBody>
                    <a:bodyPr/>
                    <a:lstStyle/>
                    <a:p>
                      <a:r>
                        <a:rPr sz="1400" b="1" i="0">
                          <a:solidFill>
                            <a:srgbClr val="1F2A44"/>
                          </a:solidFill>
                          <a:latin typeface="Calibri"/>
                        </a:rPr>
                        <a:t>17.6%</a:t>
                      </a:r>
                    </a:p>
                  </a:txBody>
                  <a:tcPr anchor="ctr">
                    <a:solidFill>
                      <a:srgbClr val="EEF1F5"/>
                    </a:solidFill>
                  </a:tcPr>
                </a:tc>
                <a:tc>
                  <a:txBody>
                    <a:bodyPr/>
                    <a:lstStyle/>
                    <a:p>
                      <a:r>
                        <a:rPr sz="1400" b="1" i="0">
                          <a:solidFill>
                            <a:srgbClr val="1F2A44"/>
                          </a:solidFill>
                          <a:latin typeface="Calibri"/>
                        </a:rPr>
                        <a:t>61.8%</a:t>
                      </a:r>
                    </a:p>
                  </a:txBody>
                  <a:tcPr anchor="ctr">
                    <a:solidFill>
                      <a:srgbClr val="EEF1F5"/>
                    </a:solidFill>
                  </a:tcPr>
                </a:tc>
                <a:extLst>
                  <a:ext uri="{0D108BD9-81ED-4DB2-BD59-A6C34878D82A}">
                    <a16:rowId xmlns:a16="http://schemas.microsoft.com/office/drawing/2014/main" val="10002"/>
                  </a:ext>
                </a:extLst>
              </a:tr>
              <a:tr h="411480">
                <a:tc>
                  <a:txBody>
                    <a:bodyPr/>
                    <a:lstStyle/>
                    <a:p>
                      <a:r>
                        <a:rPr sz="1400" b="0" i="0">
                          <a:solidFill>
                            <a:srgbClr val="1F2A44"/>
                          </a:solidFill>
                          <a:latin typeface="Calibri"/>
                        </a:rPr>
                        <a:t>Specificity</a:t>
                      </a:r>
                    </a:p>
                  </a:txBody>
                  <a:tcPr anchor="ctr">
                    <a:solidFill>
                      <a:srgbClr val="FFFFFF"/>
                    </a:solidFill>
                  </a:tcPr>
                </a:tc>
                <a:tc>
                  <a:txBody>
                    <a:bodyPr/>
                    <a:lstStyle/>
                    <a:p>
                      <a:r>
                        <a:rPr sz="1400" b="0" i="0">
                          <a:solidFill>
                            <a:srgbClr val="1F2A44"/>
                          </a:solidFill>
                          <a:latin typeface="Calibri"/>
                        </a:rPr>
                        <a:t>97.4%</a:t>
                      </a:r>
                    </a:p>
                  </a:txBody>
                  <a:tcPr anchor="ctr">
                    <a:solidFill>
                      <a:srgbClr val="FFFFFF"/>
                    </a:solidFill>
                  </a:tcPr>
                </a:tc>
                <a:tc>
                  <a:txBody>
                    <a:bodyPr/>
                    <a:lstStyle/>
                    <a:p>
                      <a:r>
                        <a:rPr sz="1400" b="0" i="0">
                          <a:solidFill>
                            <a:srgbClr val="1F2A44"/>
                          </a:solidFill>
                          <a:latin typeface="Calibri"/>
                        </a:rPr>
                        <a:t>92.5%</a:t>
                      </a:r>
                    </a:p>
                  </a:txBody>
                  <a:tcPr anchor="ctr">
                    <a:solidFill>
                      <a:srgbClr val="FFFFFF"/>
                    </a:solidFill>
                  </a:tcPr>
                </a:tc>
                <a:extLst>
                  <a:ext uri="{0D108BD9-81ED-4DB2-BD59-A6C34878D82A}">
                    <a16:rowId xmlns:a16="http://schemas.microsoft.com/office/drawing/2014/main" val="10003"/>
                  </a:ext>
                </a:extLst>
              </a:tr>
              <a:tr h="411480">
                <a:tc>
                  <a:txBody>
                    <a:bodyPr/>
                    <a:lstStyle/>
                    <a:p>
                      <a:r>
                        <a:rPr sz="1400" b="0" i="0">
                          <a:solidFill>
                            <a:srgbClr val="1F2A44"/>
                          </a:solidFill>
                          <a:latin typeface="Calibri"/>
                        </a:rPr>
                        <a:t>Leavers caught</a:t>
                      </a:r>
                    </a:p>
                  </a:txBody>
                  <a:tcPr anchor="ctr">
                    <a:solidFill>
                      <a:srgbClr val="EEF1F5"/>
                    </a:solidFill>
                  </a:tcPr>
                </a:tc>
                <a:tc>
                  <a:txBody>
                    <a:bodyPr/>
                    <a:lstStyle/>
                    <a:p>
                      <a:r>
                        <a:rPr sz="1400" b="0" i="0">
                          <a:solidFill>
                            <a:srgbClr val="1F2A44"/>
                          </a:solidFill>
                          <a:latin typeface="Calibri"/>
                        </a:rPr>
                        <a:t>6 of 34</a:t>
                      </a:r>
                    </a:p>
                  </a:txBody>
                  <a:tcPr anchor="ctr">
                    <a:solidFill>
                      <a:srgbClr val="EEF1F5"/>
                    </a:solidFill>
                  </a:tcPr>
                </a:tc>
                <a:tc>
                  <a:txBody>
                    <a:bodyPr/>
                    <a:lstStyle/>
                    <a:p>
                      <a:r>
                        <a:rPr sz="1400" b="0" i="0" dirty="0">
                          <a:solidFill>
                            <a:srgbClr val="1F2A44"/>
                          </a:solidFill>
                          <a:latin typeface="Calibri"/>
                        </a:rPr>
                        <a:t>21 of 34</a:t>
                      </a:r>
                    </a:p>
                  </a:txBody>
                  <a:tcPr anchor="ctr">
                    <a:solidFill>
                      <a:srgbClr val="EEF1F5"/>
                    </a:solidFill>
                  </a:tcPr>
                </a:tc>
                <a:extLst>
                  <a:ext uri="{0D108BD9-81ED-4DB2-BD59-A6C34878D82A}">
                    <a16:rowId xmlns:a16="http://schemas.microsoft.com/office/drawing/2014/main" val="10004"/>
                  </a:ext>
                </a:extLst>
              </a:tr>
            </a:tbl>
          </a:graphicData>
        </a:graphic>
      </p:graphicFrame>
      <p:sp>
        <p:nvSpPr>
          <p:cNvPr id="8" name="Rounded Rectangle 27">
            <a:extLst>
              <a:ext uri="{FF2B5EF4-FFF2-40B4-BE49-F238E27FC236}">
                <a16:creationId xmlns:a16="http://schemas.microsoft.com/office/drawing/2014/main" id="{E9EC9F44-1D96-079B-56F2-3F9DCB082EEA}"/>
              </a:ext>
            </a:extLst>
          </p:cNvPr>
          <p:cNvSpPr/>
          <p:nvPr/>
        </p:nvSpPr>
        <p:spPr>
          <a:xfrm>
            <a:off x="6858000" y="3703320"/>
            <a:ext cx="4754880" cy="1874519"/>
          </a:xfrm>
          <a:prstGeom prst="roundRect">
            <a:avLst>
              <a:gd name="adj" fmla="val 4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B44863E7-FA0D-6629-45E0-CB3EA2B07C8D}"/>
              </a:ext>
            </a:extLst>
          </p:cNvPr>
          <p:cNvSpPr txBox="1"/>
          <p:nvPr/>
        </p:nvSpPr>
        <p:spPr>
          <a:xfrm>
            <a:off x="7086600" y="3703320"/>
            <a:ext cx="4297680" cy="1874519"/>
          </a:xfrm>
          <a:prstGeom prst="rect">
            <a:avLst/>
          </a:prstGeom>
          <a:noFill/>
        </p:spPr>
        <p:txBody>
          <a:bodyPr wrap="square" lIns="0" tIns="0" rIns="0" bIns="0" anchor="ctr">
            <a:spAutoFit/>
          </a:bodyPr>
          <a:lstStyle/>
          <a:p>
            <a:r>
              <a:rPr sz="1600" b="0" i="0">
                <a:solidFill>
                  <a:schemeClr val="tx1"/>
                </a:solidFill>
                <a:latin typeface="+mj-lt"/>
              </a:rPr>
              <a:t>With only 16% leavers, most neighbors vote 'No', so KNN rarely flags anyone. Naive Bayes already catches 62% of leavers.</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buNone/>
            </a:pPr>
            <a:r>
              <a:rPr lang="en-US" sz="3200" b="1" dirty="0">
                <a:solidFill>
                  <a:schemeClr val="tx1"/>
                </a:solidFill>
              </a:rPr>
              <a:t>Lowering the Cutoff Balances the Models</a:t>
            </a:r>
            <a:endParaRPr lang="en-US" sz="32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latin typeface="+mj-lt"/>
              </a:rPr>
              <a:t>12</a:t>
            </a:fld>
            <a:endParaRPr lang="en-US">
              <a:latin typeface="+mj-lt"/>
            </a:endParaRPr>
          </a:p>
        </p:txBody>
      </p:sp>
      <p:sp>
        <p:nvSpPr>
          <p:cNvPr id="27" name="Rounded Rectangle 26"/>
          <p:cNvSpPr/>
          <p:nvPr/>
        </p:nvSpPr>
        <p:spPr>
          <a:xfrm>
            <a:off x="6858000" y="1417320"/>
            <a:ext cx="4754880" cy="1965960"/>
          </a:xfrm>
          <a:prstGeom prst="roundRect">
            <a:avLst>
              <a:gd name="adj" fmla="val 4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32320" y="1554480"/>
            <a:ext cx="4206240" cy="822960"/>
          </a:xfrm>
          <a:prstGeom prst="rect">
            <a:avLst/>
          </a:prstGeom>
          <a:noFill/>
        </p:spPr>
        <p:txBody>
          <a:bodyPr wrap="square" lIns="0" tIns="0" rIns="0" bIns="0" anchor="b">
            <a:spAutoFit/>
          </a:bodyPr>
          <a:lstStyle/>
          <a:p>
            <a:r>
              <a:rPr sz="4000" b="1" i="0">
                <a:solidFill>
                  <a:schemeClr val="accent1"/>
                </a:solidFill>
                <a:latin typeface="+mj-lt"/>
              </a:rPr>
              <a:t>0.25</a:t>
            </a:r>
          </a:p>
        </p:txBody>
      </p:sp>
      <p:sp>
        <p:nvSpPr>
          <p:cNvPr id="29" name="TextBox 28"/>
          <p:cNvSpPr txBox="1"/>
          <p:nvPr/>
        </p:nvSpPr>
        <p:spPr>
          <a:xfrm>
            <a:off x="7132320" y="2423160"/>
            <a:ext cx="4206240" cy="868680"/>
          </a:xfrm>
          <a:prstGeom prst="rect">
            <a:avLst/>
          </a:prstGeom>
          <a:noFill/>
        </p:spPr>
        <p:txBody>
          <a:bodyPr wrap="square" lIns="0" tIns="0" rIns="0" bIns="0" anchor="t">
            <a:spAutoFit/>
          </a:bodyPr>
          <a:lstStyle/>
          <a:p>
            <a:r>
              <a:rPr sz="1500" b="0" i="0">
                <a:solidFill>
                  <a:schemeClr val="tx1"/>
                </a:solidFill>
                <a:latin typeface="+mj-lt"/>
              </a:rPr>
              <a:t>Naive Bayes cutoff: flag an employee when the chance of leaving is above 25%</a:t>
            </a:r>
          </a:p>
        </p:txBody>
      </p:sp>
      <p:sp>
        <p:nvSpPr>
          <p:cNvPr id="30" name="Rounded Rectangle 29"/>
          <p:cNvSpPr/>
          <p:nvPr/>
        </p:nvSpPr>
        <p:spPr>
          <a:xfrm>
            <a:off x="6858000" y="3611880"/>
            <a:ext cx="4754880" cy="1965960"/>
          </a:xfrm>
          <a:prstGeom prst="roundRect">
            <a:avLst>
              <a:gd name="adj" fmla="val 4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132320" y="3749039"/>
            <a:ext cx="4206240" cy="822960"/>
          </a:xfrm>
          <a:prstGeom prst="rect">
            <a:avLst/>
          </a:prstGeom>
          <a:noFill/>
        </p:spPr>
        <p:txBody>
          <a:bodyPr wrap="square" lIns="0" tIns="0" rIns="0" bIns="0" anchor="b">
            <a:spAutoFit/>
          </a:bodyPr>
          <a:lstStyle/>
          <a:p>
            <a:r>
              <a:rPr sz="3200" b="1" i="0">
                <a:solidFill>
                  <a:schemeClr val="accent5"/>
                </a:solidFill>
                <a:latin typeface="+mj-lt"/>
              </a:rPr>
              <a:t>k = 21, cutoff 0.10</a:t>
            </a:r>
          </a:p>
        </p:txBody>
      </p:sp>
      <p:sp>
        <p:nvSpPr>
          <p:cNvPr id="32" name="TextBox 31"/>
          <p:cNvSpPr txBox="1"/>
          <p:nvPr/>
        </p:nvSpPr>
        <p:spPr>
          <a:xfrm>
            <a:off x="7132320" y="4617720"/>
            <a:ext cx="4206240" cy="868680"/>
          </a:xfrm>
          <a:prstGeom prst="rect">
            <a:avLst/>
          </a:prstGeom>
          <a:noFill/>
        </p:spPr>
        <p:txBody>
          <a:bodyPr wrap="square" lIns="0" tIns="0" rIns="0" bIns="0" anchor="t">
            <a:spAutoFit/>
          </a:bodyPr>
          <a:lstStyle/>
          <a:p>
            <a:r>
              <a:rPr sz="1500" b="0" i="0">
                <a:solidFill>
                  <a:schemeClr val="tx1"/>
                </a:solidFill>
                <a:latin typeface="+mj-lt"/>
              </a:rPr>
              <a:t>KNN: flag an employee when 3 or more of the 21 nearest neighbors left</a:t>
            </a:r>
          </a:p>
        </p:txBody>
      </p:sp>
      <p:sp>
        <p:nvSpPr>
          <p:cNvPr id="33" name="TextBox 32"/>
          <p:cNvSpPr txBox="1"/>
          <p:nvPr/>
        </p:nvSpPr>
        <p:spPr>
          <a:xfrm>
            <a:off x="548640" y="6263640"/>
            <a:ext cx="10424160" cy="365760"/>
          </a:xfrm>
          <a:prstGeom prst="rect">
            <a:avLst/>
          </a:prstGeom>
          <a:noFill/>
        </p:spPr>
        <p:txBody>
          <a:bodyPr wrap="square" lIns="0" tIns="0" rIns="0" bIns="0" anchor="ctr">
            <a:spAutoFit/>
          </a:bodyPr>
          <a:lstStyle/>
          <a:p>
            <a:r>
              <a:rPr sz="1100" b="0" i="1">
                <a:solidFill>
                  <a:schemeClr val="tx2"/>
                </a:solidFill>
                <a:latin typeface="+mj-lt"/>
              </a:rPr>
              <a:t>Chosen setting = the one where the lower of sensitivity and specificity is highest. NB: 100 random splits; KNN: 50 random splits per k.</a:t>
            </a:r>
          </a:p>
        </p:txBody>
      </p:sp>
      <p:pic>
        <p:nvPicPr>
          <p:cNvPr id="3" name="Picture 2">
            <a:extLst>
              <a:ext uri="{FF2B5EF4-FFF2-40B4-BE49-F238E27FC236}">
                <a16:creationId xmlns:a16="http://schemas.microsoft.com/office/drawing/2014/main" id="{D8EABEA7-7676-367D-867E-479B1331AB56}"/>
              </a:ext>
            </a:extLst>
          </p:cNvPr>
          <p:cNvPicPr>
            <a:picLocks noChangeAspect="1"/>
          </p:cNvPicPr>
          <p:nvPr/>
        </p:nvPicPr>
        <p:blipFill>
          <a:blip r:embed="rId3"/>
          <a:stretch>
            <a:fillRect/>
          </a:stretch>
        </p:blipFill>
        <p:spPr>
          <a:xfrm>
            <a:off x="319993" y="1325863"/>
            <a:ext cx="6400847" cy="457203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fade">
                                      <p:cBhvr>
                                        <p:cTn id="18" dur="500"/>
                                        <p:tgtEl>
                                          <p:spTgt spid="3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fade">
                                      <p:cBhvr>
                                        <p:cTn id="21" dur="500"/>
                                        <p:tgtEl>
                                          <p:spTgt spid="3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buNone/>
            </a:pPr>
            <a:r>
              <a:rPr lang="en-US" sz="3200" b="1" dirty="0">
                <a:solidFill>
                  <a:schemeClr val="tx1"/>
                </a:solidFill>
              </a:rPr>
              <a:t>Both Tuned Models Clear 60 / 60</a:t>
            </a:r>
            <a:endParaRPr lang="en-US" sz="32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latin typeface="+mj-lt"/>
              </a:rPr>
              <a:t>13</a:t>
            </a:fld>
            <a:endParaRPr lang="en-US">
              <a:latin typeface="+mj-lt"/>
            </a:endParaRPr>
          </a:p>
        </p:txBody>
      </p:sp>
      <p:sp>
        <p:nvSpPr>
          <p:cNvPr id="27" name="TextBox 26"/>
          <p:cNvSpPr txBox="1"/>
          <p:nvPr/>
        </p:nvSpPr>
        <p:spPr>
          <a:xfrm>
            <a:off x="7589520" y="1371600"/>
            <a:ext cx="4023360" cy="365760"/>
          </a:xfrm>
          <a:prstGeom prst="rect">
            <a:avLst/>
          </a:prstGeom>
          <a:noFill/>
        </p:spPr>
        <p:txBody>
          <a:bodyPr wrap="square" lIns="0" tIns="0" rIns="0" bIns="0" anchor="t">
            <a:spAutoFit/>
          </a:bodyPr>
          <a:lstStyle/>
          <a:p>
            <a:r>
              <a:rPr sz="1600" b="1" i="0">
                <a:solidFill>
                  <a:schemeClr val="accent1"/>
                </a:solidFill>
                <a:latin typeface="+mj-lt"/>
              </a:rPr>
              <a:t>Tuned Naive Bayes, one test split</a:t>
            </a:r>
          </a:p>
        </p:txBody>
      </p:sp>
      <p:graphicFrame>
        <p:nvGraphicFramePr>
          <p:cNvPr id="28" name="Table 27"/>
          <p:cNvGraphicFramePr>
            <a:graphicFrameLocks noGrp="1"/>
          </p:cNvGraphicFramePr>
          <p:nvPr/>
        </p:nvGraphicFramePr>
        <p:xfrm>
          <a:off x="7589520" y="1783080"/>
          <a:ext cx="4023360" cy="137160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457200">
                <a:tc>
                  <a:txBody>
                    <a:bodyPr/>
                    <a:lstStyle/>
                    <a:p>
                      <a:r>
                        <a:rPr sz="1400" b="1" i="0">
                          <a:solidFill>
                            <a:srgbClr val="FFFFFF"/>
                          </a:solidFill>
                          <a:latin typeface="Calibri"/>
                        </a:rPr>
                        <a:t>Tuned NB</a:t>
                      </a:r>
                    </a:p>
                  </a:txBody>
                  <a:tcPr anchor="ctr">
                    <a:solidFill>
                      <a:srgbClr val="1F2A44"/>
                    </a:solidFill>
                  </a:tcPr>
                </a:tc>
                <a:tc>
                  <a:txBody>
                    <a:bodyPr/>
                    <a:lstStyle/>
                    <a:p>
                      <a:r>
                        <a:rPr sz="1400" b="1" i="0">
                          <a:solidFill>
                            <a:srgbClr val="FFFFFF"/>
                          </a:solidFill>
                          <a:latin typeface="Calibri"/>
                        </a:rPr>
                        <a:t>Actual: Left</a:t>
                      </a:r>
                    </a:p>
                  </a:txBody>
                  <a:tcPr anchor="ctr">
                    <a:solidFill>
                      <a:srgbClr val="1F2A44"/>
                    </a:solidFill>
                  </a:tcPr>
                </a:tc>
                <a:tc>
                  <a:txBody>
                    <a:bodyPr/>
                    <a:lstStyle/>
                    <a:p>
                      <a:r>
                        <a:rPr sz="1400" b="1" i="0">
                          <a:solidFill>
                            <a:srgbClr val="FFFFFF"/>
                          </a:solidFill>
                          <a:latin typeface="Calibri"/>
                        </a:rPr>
                        <a:t>Actual: Stayed</a:t>
                      </a:r>
                    </a:p>
                  </a:txBody>
                  <a:tcPr anchor="ctr">
                    <a:solidFill>
                      <a:srgbClr val="1F2A44"/>
                    </a:solidFill>
                  </a:tcPr>
                </a:tc>
                <a:extLst>
                  <a:ext uri="{0D108BD9-81ED-4DB2-BD59-A6C34878D82A}">
                    <a16:rowId xmlns:a16="http://schemas.microsoft.com/office/drawing/2014/main" val="10000"/>
                  </a:ext>
                </a:extLst>
              </a:tr>
              <a:tr h="457200">
                <a:tc>
                  <a:txBody>
                    <a:bodyPr/>
                    <a:lstStyle/>
                    <a:p>
                      <a:r>
                        <a:rPr sz="1400" b="0" i="0">
                          <a:solidFill>
                            <a:srgbClr val="1F2A44"/>
                          </a:solidFill>
                          <a:latin typeface="Calibri"/>
                        </a:rPr>
                        <a:t>Predicted: Left</a:t>
                      </a:r>
                    </a:p>
                  </a:txBody>
                  <a:tcPr anchor="ctr">
                    <a:solidFill>
                      <a:srgbClr val="FFFFFF"/>
                    </a:solidFill>
                  </a:tcPr>
                </a:tc>
                <a:tc>
                  <a:txBody>
                    <a:bodyPr/>
                    <a:lstStyle/>
                    <a:p>
                      <a:r>
                        <a:rPr sz="1400" b="1" i="0">
                          <a:solidFill>
                            <a:srgbClr val="1F2A44"/>
                          </a:solidFill>
                          <a:latin typeface="Calibri"/>
                        </a:rPr>
                        <a:t>25</a:t>
                      </a:r>
                    </a:p>
                  </a:txBody>
                  <a:tcPr anchor="ctr">
                    <a:solidFill>
                      <a:srgbClr val="FFFFFF"/>
                    </a:solidFill>
                  </a:tcPr>
                </a:tc>
                <a:tc>
                  <a:txBody>
                    <a:bodyPr/>
                    <a:lstStyle/>
                    <a:p>
                      <a:r>
                        <a:rPr sz="1400" b="0" i="0">
                          <a:solidFill>
                            <a:srgbClr val="1F2A44"/>
                          </a:solidFill>
                          <a:latin typeface="Calibri"/>
                        </a:rPr>
                        <a:t>54</a:t>
                      </a:r>
                    </a:p>
                  </a:txBody>
                  <a:tcPr anchor="ctr">
                    <a:solidFill>
                      <a:srgbClr val="FFFFFF"/>
                    </a:solidFill>
                  </a:tcPr>
                </a:tc>
                <a:extLst>
                  <a:ext uri="{0D108BD9-81ED-4DB2-BD59-A6C34878D82A}">
                    <a16:rowId xmlns:a16="http://schemas.microsoft.com/office/drawing/2014/main" val="10001"/>
                  </a:ext>
                </a:extLst>
              </a:tr>
              <a:tr h="457200">
                <a:tc>
                  <a:txBody>
                    <a:bodyPr/>
                    <a:lstStyle/>
                    <a:p>
                      <a:r>
                        <a:rPr sz="1400" b="0" i="0">
                          <a:solidFill>
                            <a:srgbClr val="1F2A44"/>
                          </a:solidFill>
                          <a:latin typeface="Calibri"/>
                        </a:rPr>
                        <a:t>Predicted: Stayed</a:t>
                      </a:r>
                    </a:p>
                  </a:txBody>
                  <a:tcPr anchor="ctr">
                    <a:solidFill>
                      <a:srgbClr val="EEF1F5"/>
                    </a:solidFill>
                  </a:tcPr>
                </a:tc>
                <a:tc>
                  <a:txBody>
                    <a:bodyPr/>
                    <a:lstStyle/>
                    <a:p>
                      <a:r>
                        <a:rPr sz="1400" b="0" i="0">
                          <a:solidFill>
                            <a:srgbClr val="1F2A44"/>
                          </a:solidFill>
                          <a:latin typeface="Calibri"/>
                        </a:rPr>
                        <a:t>9</a:t>
                      </a:r>
                    </a:p>
                  </a:txBody>
                  <a:tcPr anchor="ctr">
                    <a:solidFill>
                      <a:srgbClr val="EEF1F5"/>
                    </a:solidFill>
                  </a:tcPr>
                </a:tc>
                <a:tc>
                  <a:txBody>
                    <a:bodyPr/>
                    <a:lstStyle/>
                    <a:p>
                      <a:r>
                        <a:rPr sz="1400" b="0" i="0">
                          <a:solidFill>
                            <a:srgbClr val="1F2A44"/>
                          </a:solidFill>
                          <a:latin typeface="Calibri"/>
                        </a:rPr>
                        <a:t>173</a:t>
                      </a:r>
                    </a:p>
                  </a:txBody>
                  <a:tcPr anchor="ctr">
                    <a:solidFill>
                      <a:srgbClr val="EEF1F5"/>
                    </a:solidFill>
                  </a:tcPr>
                </a:tc>
                <a:extLst>
                  <a:ext uri="{0D108BD9-81ED-4DB2-BD59-A6C34878D82A}">
                    <a16:rowId xmlns:a16="http://schemas.microsoft.com/office/drawing/2014/main" val="10002"/>
                  </a:ext>
                </a:extLst>
              </a:tr>
            </a:tbl>
          </a:graphicData>
        </a:graphic>
      </p:graphicFrame>
      <p:sp>
        <p:nvSpPr>
          <p:cNvPr id="29" name="Rounded Rectangle 28"/>
          <p:cNvSpPr/>
          <p:nvPr/>
        </p:nvSpPr>
        <p:spPr>
          <a:xfrm>
            <a:off x="7589520" y="3383280"/>
            <a:ext cx="4023360" cy="2103120"/>
          </a:xfrm>
          <a:prstGeom prst="roundRect">
            <a:avLst>
              <a:gd name="adj" fmla="val 4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818120" y="3520440"/>
            <a:ext cx="3566160" cy="1828800"/>
          </a:xfrm>
          <a:prstGeom prst="rect">
            <a:avLst/>
          </a:prstGeom>
          <a:noFill/>
        </p:spPr>
        <p:txBody>
          <a:bodyPr wrap="square" lIns="0" tIns="0" rIns="0" bIns="0" anchor="t">
            <a:spAutoFit/>
          </a:bodyPr>
          <a:lstStyle/>
          <a:p>
            <a:r>
              <a:rPr sz="3200" b="1" i="0">
                <a:solidFill>
                  <a:schemeClr val="accent1"/>
                </a:solidFill>
                <a:latin typeface="+mj-lt"/>
              </a:rPr>
              <a:t>71.8% / 70.7%</a:t>
            </a:r>
          </a:p>
          <a:p>
            <a:pPr>
              <a:spcBef>
                <a:spcPts val="600"/>
              </a:spcBef>
            </a:pPr>
            <a:r>
              <a:rPr sz="1500" b="0" i="0">
                <a:solidFill>
                  <a:schemeClr val="tx1"/>
                </a:solidFill>
                <a:latin typeface="+mj-lt"/>
              </a:rPr>
              <a:t>average sensitivity / specificity, the best balance of all four models</a:t>
            </a:r>
          </a:p>
        </p:txBody>
      </p:sp>
      <p:sp>
        <p:nvSpPr>
          <p:cNvPr id="31" name="TextBox 30"/>
          <p:cNvSpPr txBox="1"/>
          <p:nvPr/>
        </p:nvSpPr>
        <p:spPr>
          <a:xfrm>
            <a:off x="548640" y="6263640"/>
            <a:ext cx="10424160" cy="365760"/>
          </a:xfrm>
          <a:prstGeom prst="rect">
            <a:avLst/>
          </a:prstGeom>
          <a:noFill/>
        </p:spPr>
        <p:txBody>
          <a:bodyPr wrap="square" lIns="0" tIns="0" rIns="0" bIns="0" anchor="ctr">
            <a:spAutoFit/>
          </a:bodyPr>
          <a:lstStyle/>
          <a:p>
            <a:r>
              <a:rPr sz="1100" b="0" i="1">
                <a:solidFill>
                  <a:schemeClr val="tx2"/>
                </a:solidFill>
                <a:latin typeface="+mj-lt"/>
              </a:rPr>
              <a:t>Bars are averages over random 70/30 splits. Confusion matrix: set.seed(4) split (73.5% sensitivity, 76.2% specificity, F1 = 0.44).</a:t>
            </a:r>
          </a:p>
        </p:txBody>
      </p:sp>
      <p:pic>
        <p:nvPicPr>
          <p:cNvPr id="3" name="Picture 2">
            <a:extLst>
              <a:ext uri="{FF2B5EF4-FFF2-40B4-BE49-F238E27FC236}">
                <a16:creationId xmlns:a16="http://schemas.microsoft.com/office/drawing/2014/main" id="{E8D8A447-074E-B4A7-E803-7E2E38742255}"/>
              </a:ext>
            </a:extLst>
          </p:cNvPr>
          <p:cNvPicPr>
            <a:picLocks noChangeAspect="1"/>
          </p:cNvPicPr>
          <p:nvPr/>
        </p:nvPicPr>
        <p:blipFill>
          <a:blip r:embed="rId3"/>
          <a:stretch>
            <a:fillRect/>
          </a:stretch>
        </p:blipFill>
        <p:spPr>
          <a:xfrm>
            <a:off x="548640" y="1457960"/>
            <a:ext cx="6400847" cy="457203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buNone/>
            </a:pPr>
            <a:r>
              <a:rPr lang="en-US" sz="3200" b="1" dirty="0">
                <a:solidFill>
                  <a:schemeClr val="tx1"/>
                </a:solidFill>
              </a:rPr>
              <a:t>The Model Pays for Itself</a:t>
            </a:r>
            <a:endParaRPr lang="en-US" sz="32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latin typeface="+mj-lt"/>
              </a:rPr>
              <a:t>14</a:t>
            </a:fld>
            <a:endParaRPr lang="en-US">
              <a:latin typeface="+mj-lt"/>
            </a:endParaRPr>
          </a:p>
        </p:txBody>
      </p:sp>
      <p:sp>
        <p:nvSpPr>
          <p:cNvPr id="26" name="Rounded Rectangle 25"/>
          <p:cNvSpPr/>
          <p:nvPr/>
        </p:nvSpPr>
        <p:spPr>
          <a:xfrm>
            <a:off x="548640" y="1371600"/>
            <a:ext cx="3566160" cy="2377440"/>
          </a:xfrm>
          <a:prstGeom prst="roundRect">
            <a:avLst>
              <a:gd name="adj" fmla="val 4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59" y="1554480"/>
            <a:ext cx="3017520" cy="914400"/>
          </a:xfrm>
          <a:prstGeom prst="rect">
            <a:avLst/>
          </a:prstGeom>
          <a:noFill/>
        </p:spPr>
        <p:txBody>
          <a:bodyPr wrap="square" lIns="0" tIns="0" rIns="0" bIns="0" anchor="b">
            <a:spAutoFit/>
          </a:bodyPr>
          <a:lstStyle/>
          <a:p>
            <a:r>
              <a:rPr sz="3400" b="1" i="0">
                <a:solidFill>
                  <a:schemeClr val="accent5"/>
                </a:solidFill>
                <a:latin typeface="+mj-lt"/>
              </a:rPr>
              <a:t>$15,800</a:t>
            </a:r>
          </a:p>
        </p:txBody>
      </p:sp>
      <p:sp>
        <p:nvSpPr>
          <p:cNvPr id="28" name="TextBox 27"/>
          <p:cNvSpPr txBox="1"/>
          <p:nvPr/>
        </p:nvSpPr>
        <p:spPr>
          <a:xfrm>
            <a:off x="822959" y="2560320"/>
            <a:ext cx="3017520" cy="1005840"/>
          </a:xfrm>
          <a:prstGeom prst="rect">
            <a:avLst/>
          </a:prstGeom>
          <a:noFill/>
        </p:spPr>
        <p:txBody>
          <a:bodyPr wrap="square" lIns="0" tIns="0" rIns="0" bIns="0" anchor="t">
            <a:spAutoFit/>
          </a:bodyPr>
          <a:lstStyle/>
          <a:p>
            <a:r>
              <a:rPr sz="1500" b="0" i="0">
                <a:solidFill>
                  <a:schemeClr val="tx1"/>
                </a:solidFill>
                <a:latin typeface="+mj-lt"/>
              </a:rPr>
              <a:t>incentives for the 79 employees the model flags ($200 each)</a:t>
            </a:r>
          </a:p>
        </p:txBody>
      </p:sp>
      <p:sp>
        <p:nvSpPr>
          <p:cNvPr id="29" name="Rounded Rectangle 28"/>
          <p:cNvSpPr/>
          <p:nvPr/>
        </p:nvSpPr>
        <p:spPr>
          <a:xfrm>
            <a:off x="4297679" y="1371600"/>
            <a:ext cx="3566160" cy="2377440"/>
          </a:xfrm>
          <a:prstGeom prst="roundRect">
            <a:avLst>
              <a:gd name="adj" fmla="val 4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71999" y="1554480"/>
            <a:ext cx="3017520" cy="914400"/>
          </a:xfrm>
          <a:prstGeom prst="rect">
            <a:avLst/>
          </a:prstGeom>
          <a:noFill/>
        </p:spPr>
        <p:txBody>
          <a:bodyPr wrap="square" lIns="0" tIns="0" rIns="0" bIns="0" anchor="b">
            <a:spAutoFit/>
          </a:bodyPr>
          <a:lstStyle/>
          <a:p>
            <a:r>
              <a:rPr sz="3400" b="1" i="0">
                <a:solidFill>
                  <a:schemeClr val="accent1"/>
                </a:solidFill>
                <a:latin typeface="+mj-lt"/>
              </a:rPr>
              <a:t>25 of 34</a:t>
            </a:r>
          </a:p>
        </p:txBody>
      </p:sp>
      <p:sp>
        <p:nvSpPr>
          <p:cNvPr id="31" name="TextBox 30"/>
          <p:cNvSpPr txBox="1"/>
          <p:nvPr/>
        </p:nvSpPr>
        <p:spPr>
          <a:xfrm>
            <a:off x="4571999" y="2560320"/>
            <a:ext cx="3017520" cy="1005840"/>
          </a:xfrm>
          <a:prstGeom prst="rect">
            <a:avLst/>
          </a:prstGeom>
          <a:noFill/>
        </p:spPr>
        <p:txBody>
          <a:bodyPr wrap="square" lIns="0" tIns="0" rIns="0" bIns="0" anchor="t">
            <a:spAutoFit/>
          </a:bodyPr>
          <a:lstStyle/>
          <a:p>
            <a:r>
              <a:rPr sz="1500" b="0" i="0">
                <a:solidFill>
                  <a:schemeClr val="tx1"/>
                </a:solidFill>
                <a:latin typeface="+mj-lt"/>
              </a:rPr>
              <a:t>leavers flagged before they leave</a:t>
            </a:r>
          </a:p>
        </p:txBody>
      </p:sp>
      <p:sp>
        <p:nvSpPr>
          <p:cNvPr id="32" name="Rounded Rectangle 31"/>
          <p:cNvSpPr/>
          <p:nvPr/>
        </p:nvSpPr>
        <p:spPr>
          <a:xfrm>
            <a:off x="8046719" y="1371600"/>
            <a:ext cx="3566160" cy="2377440"/>
          </a:xfrm>
          <a:prstGeom prst="roundRect">
            <a:avLst>
              <a:gd name="adj" fmla="val 4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321040" y="1554480"/>
            <a:ext cx="3017520" cy="914400"/>
          </a:xfrm>
          <a:prstGeom prst="rect">
            <a:avLst/>
          </a:prstGeom>
          <a:noFill/>
        </p:spPr>
        <p:txBody>
          <a:bodyPr wrap="square" lIns="0" tIns="0" rIns="0" bIns="0" anchor="b">
            <a:spAutoFit/>
          </a:bodyPr>
          <a:lstStyle/>
          <a:p>
            <a:r>
              <a:rPr sz="3400" b="1" i="0">
                <a:solidFill>
                  <a:schemeClr val="accent1"/>
                </a:solidFill>
                <a:latin typeface="+mj-lt"/>
              </a:rPr>
              <a:t>$467K–$3.8M</a:t>
            </a:r>
          </a:p>
        </p:txBody>
      </p:sp>
      <p:sp>
        <p:nvSpPr>
          <p:cNvPr id="34" name="TextBox 33"/>
          <p:cNvSpPr txBox="1"/>
          <p:nvPr/>
        </p:nvSpPr>
        <p:spPr>
          <a:xfrm>
            <a:off x="8321040" y="2560320"/>
            <a:ext cx="3017520" cy="1005840"/>
          </a:xfrm>
          <a:prstGeom prst="rect">
            <a:avLst/>
          </a:prstGeom>
          <a:noFill/>
        </p:spPr>
        <p:txBody>
          <a:bodyPr wrap="square" lIns="0" tIns="0" rIns="0" bIns="0" anchor="t">
            <a:spAutoFit/>
          </a:bodyPr>
          <a:lstStyle/>
          <a:p>
            <a:r>
              <a:rPr sz="1500" b="0" i="0">
                <a:solidFill>
                  <a:schemeClr val="tx1"/>
                </a:solidFill>
                <a:latin typeface="+mj-lt"/>
              </a:rPr>
              <a:t>estimated net savings on the 261-employee test set</a:t>
            </a:r>
          </a:p>
        </p:txBody>
      </p:sp>
      <p:sp>
        <p:nvSpPr>
          <p:cNvPr id="35" name="Rounded Rectangle 34"/>
          <p:cNvSpPr/>
          <p:nvPr/>
        </p:nvSpPr>
        <p:spPr>
          <a:xfrm>
            <a:off x="548640" y="4069080"/>
            <a:ext cx="11064240" cy="1371600"/>
          </a:xfrm>
          <a:prstGeom prst="roundRect">
            <a:avLst>
              <a:gd name="adj" fmla="val 4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22960" y="4069080"/>
            <a:ext cx="10515600" cy="1371600"/>
          </a:xfrm>
          <a:prstGeom prst="rect">
            <a:avLst/>
          </a:prstGeom>
          <a:noFill/>
        </p:spPr>
        <p:txBody>
          <a:bodyPr wrap="square" lIns="0" tIns="0" rIns="0" bIns="0" anchor="ctr">
            <a:spAutoFit/>
          </a:bodyPr>
          <a:lstStyle/>
          <a:p>
            <a:r>
              <a:rPr sz="1800" b="0" i="0">
                <a:solidFill>
                  <a:schemeClr val="bg1"/>
                </a:solidFill>
                <a:latin typeface="+mj-lt"/>
              </a:rPr>
              <a:t>Break-even: keeping just one average caught leaver (about $19,300 to replace at 50% of salary) covers the full $15,800 incentive cost.</a:t>
            </a:r>
          </a:p>
        </p:txBody>
      </p:sp>
      <p:sp>
        <p:nvSpPr>
          <p:cNvPr id="37" name="TextBox 36"/>
          <p:cNvSpPr txBox="1"/>
          <p:nvPr/>
        </p:nvSpPr>
        <p:spPr>
          <a:xfrm>
            <a:off x="548640" y="6263640"/>
            <a:ext cx="10424160" cy="365760"/>
          </a:xfrm>
          <a:prstGeom prst="rect">
            <a:avLst/>
          </a:prstGeom>
          <a:noFill/>
        </p:spPr>
        <p:txBody>
          <a:bodyPr wrap="square" lIns="0" tIns="0" rIns="0" bIns="0" anchor="ctr">
            <a:spAutoFit/>
          </a:bodyPr>
          <a:lstStyle/>
          <a:p>
            <a:r>
              <a:rPr sz="1100" b="0" i="1">
                <a:solidFill>
                  <a:schemeClr val="tx2"/>
                </a:solidFill>
                <a:latin typeface="+mj-lt"/>
              </a:rPr>
              <a:t>Assumes the incentive keeps the flagged leavers. Annual salary = MonthlyIncome × 12; replacement cost 50%–400% of salary. Tuned Naive Bayes, set.seed(4) test split.</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500"/>
                                        <p:tgtEl>
                                          <p:spTgt spid="2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500"/>
                                        <p:tgtEl>
                                          <p:spTgt spid="3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fade">
                                      <p:cBhvr>
                                        <p:cTn id="24" dur="500"/>
                                        <p:tgtEl>
                                          <p:spTgt spid="3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500"/>
                                        <p:tgtEl>
                                          <p:spTgt spid="3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500"/>
                                        <p:tgtEl>
                                          <p:spTgt spid="3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animEffect transition="in" filter="fade">
                                      <p:cBhvr>
                                        <p:cTn id="35" dur="500"/>
                                        <p:tgtEl>
                                          <p:spTgt spid="3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5"/>
                                        </p:tgtEl>
                                        <p:attrNameLst>
                                          <p:attrName>style.visibility</p:attrName>
                                        </p:attrNameLst>
                                      </p:cBhvr>
                                      <p:to>
                                        <p:strVal val="visible"/>
                                      </p:to>
                                    </p:set>
                                    <p:animEffect transition="in" filter="fade">
                                      <p:cBhvr>
                                        <p:cTn id="40" dur="500"/>
                                        <p:tgtEl>
                                          <p:spTgt spid="3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6"/>
                                        </p:tgtEl>
                                        <p:attrNameLst>
                                          <p:attrName>style.visibility</p:attrName>
                                        </p:attrNameLst>
                                      </p:cBhvr>
                                      <p:to>
                                        <p:strVal val="visible"/>
                                      </p:to>
                                    </p:set>
                                    <p:animEffect transition="in" filter="fade">
                                      <p:cBhvr>
                                        <p:cTn id="43"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lIns="0" tIns="0" rIns="0" bIns="0" rtlCol="0" anchor="ctr"/>
          <a:lstStyle/>
          <a:p>
            <a:pPr marL="0" indent="0">
              <a:buNone/>
            </a:pPr>
            <a:r>
              <a:rPr lang="en-US" sz="3200" b="1" dirty="0">
                <a:solidFill>
                  <a:schemeClr val="tx1"/>
                </a:solidFill>
              </a:rPr>
              <a:t>Conclusion and Recommendations</a:t>
            </a:r>
            <a:endParaRPr lang="en-US" sz="32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latin typeface="+mj-lt"/>
              </a:rPr>
              <a:t>15</a:t>
            </a:fld>
            <a:endParaRPr lang="en-US">
              <a:latin typeface="+mj-lt"/>
            </a:endParaRPr>
          </a:p>
        </p:txBody>
      </p:sp>
      <p:sp>
        <p:nvSpPr>
          <p:cNvPr id="26" name="Rounded Rectangle 25"/>
          <p:cNvSpPr/>
          <p:nvPr/>
        </p:nvSpPr>
        <p:spPr>
          <a:xfrm>
            <a:off x="548640" y="1371600"/>
            <a:ext cx="3566160" cy="3931920"/>
          </a:xfrm>
          <a:prstGeom prst="roundRect">
            <a:avLst>
              <a:gd name="adj" fmla="val 4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59" y="1600200"/>
            <a:ext cx="3017520" cy="457200"/>
          </a:xfrm>
          <a:prstGeom prst="rect">
            <a:avLst/>
          </a:prstGeom>
          <a:noFill/>
        </p:spPr>
        <p:txBody>
          <a:bodyPr wrap="square" lIns="0" tIns="0" rIns="0" bIns="0" anchor="t">
            <a:spAutoFit/>
          </a:bodyPr>
          <a:lstStyle/>
          <a:p>
            <a:r>
              <a:rPr sz="2400" b="1" i="0">
                <a:solidFill>
                  <a:schemeClr val="accent1"/>
                </a:solidFill>
                <a:latin typeface="+mj-lt"/>
              </a:rPr>
              <a:t>Top 3 Factors</a:t>
            </a:r>
          </a:p>
        </p:txBody>
      </p:sp>
      <p:sp>
        <p:nvSpPr>
          <p:cNvPr id="28" name="TextBox 27"/>
          <p:cNvSpPr txBox="1"/>
          <p:nvPr/>
        </p:nvSpPr>
        <p:spPr>
          <a:xfrm>
            <a:off x="822959" y="2286000"/>
            <a:ext cx="3017520" cy="2926080"/>
          </a:xfrm>
          <a:prstGeom prst="rect">
            <a:avLst/>
          </a:prstGeom>
          <a:noFill/>
        </p:spPr>
        <p:txBody>
          <a:bodyPr wrap="square" lIns="0" tIns="0" rIns="0" bIns="0">
            <a:spAutoFit/>
          </a:bodyPr>
          <a:lstStyle/>
          <a:p>
            <a:pPr marL="228600" indent="-228600">
              <a:spcAft>
                <a:spcPts val="800"/>
              </a:spcAft>
              <a:buChar char="•"/>
            </a:pPr>
            <a:r>
              <a:rPr sz="1800" b="0" i="0">
                <a:solidFill>
                  <a:schemeClr val="tx1"/>
                </a:solidFill>
                <a:latin typeface="+mj-lt"/>
              </a:rPr>
              <a:t>Overtime: 31.7% left vs 9.7%</a:t>
            </a:r>
          </a:p>
          <a:p>
            <a:pPr marL="228600" indent="-228600">
              <a:spcAft>
                <a:spcPts val="800"/>
              </a:spcAft>
              <a:buChar char="•"/>
            </a:pPr>
            <a:r>
              <a:rPr sz="1800" b="0" i="0">
                <a:solidFill>
                  <a:schemeClr val="tx1"/>
                </a:solidFill>
                <a:latin typeface="+mj-lt"/>
              </a:rPr>
              <a:t>No stock options: 25.9% left</a:t>
            </a:r>
          </a:p>
          <a:p>
            <a:pPr marL="228600" indent="-228600">
              <a:spcAft>
                <a:spcPts val="800"/>
              </a:spcAft>
              <a:buChar char="•"/>
            </a:pPr>
            <a:r>
              <a:rPr sz="1800" b="0" i="0">
                <a:solidFill>
                  <a:schemeClr val="tx1"/>
                </a:solidFill>
                <a:latin typeface="+mj-lt"/>
              </a:rPr>
              <a:t>Monthly income under $3K: 28.1% left</a:t>
            </a:r>
          </a:p>
        </p:txBody>
      </p:sp>
      <p:sp>
        <p:nvSpPr>
          <p:cNvPr id="29" name="Rounded Rectangle 28"/>
          <p:cNvSpPr/>
          <p:nvPr/>
        </p:nvSpPr>
        <p:spPr>
          <a:xfrm>
            <a:off x="4297679" y="1371600"/>
            <a:ext cx="3566160" cy="3931920"/>
          </a:xfrm>
          <a:prstGeom prst="roundRect">
            <a:avLst>
              <a:gd name="adj" fmla="val 4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71999" y="1600200"/>
            <a:ext cx="3017520" cy="457200"/>
          </a:xfrm>
          <a:prstGeom prst="rect">
            <a:avLst/>
          </a:prstGeom>
          <a:noFill/>
        </p:spPr>
        <p:txBody>
          <a:bodyPr wrap="square" lIns="0" tIns="0" rIns="0" bIns="0" anchor="t">
            <a:spAutoFit/>
          </a:bodyPr>
          <a:lstStyle/>
          <a:p>
            <a:r>
              <a:rPr sz="2400" b="1" i="0">
                <a:solidFill>
                  <a:schemeClr val="accent1"/>
                </a:solidFill>
                <a:latin typeface="+mj-lt"/>
              </a:rPr>
              <a:t>Best Model</a:t>
            </a:r>
          </a:p>
        </p:txBody>
      </p:sp>
      <p:sp>
        <p:nvSpPr>
          <p:cNvPr id="31" name="TextBox 30"/>
          <p:cNvSpPr txBox="1"/>
          <p:nvPr/>
        </p:nvSpPr>
        <p:spPr>
          <a:xfrm>
            <a:off x="4571999" y="2286000"/>
            <a:ext cx="3017520" cy="2926080"/>
          </a:xfrm>
          <a:prstGeom prst="rect">
            <a:avLst/>
          </a:prstGeom>
          <a:noFill/>
        </p:spPr>
        <p:txBody>
          <a:bodyPr wrap="square" lIns="0" tIns="0" rIns="0" bIns="0">
            <a:spAutoFit/>
          </a:bodyPr>
          <a:lstStyle/>
          <a:p>
            <a:pPr marL="228600" indent="-228600">
              <a:spcAft>
                <a:spcPts val="800"/>
              </a:spcAft>
              <a:buChar char="•"/>
            </a:pPr>
            <a:r>
              <a:rPr sz="1800" b="0" i="0">
                <a:solidFill>
                  <a:schemeClr val="tx1"/>
                </a:solidFill>
                <a:latin typeface="+mj-lt"/>
              </a:rPr>
              <a:t>Naive Bayes with all 18 significant features</a:t>
            </a:r>
          </a:p>
          <a:p>
            <a:pPr marL="228600" indent="-228600">
              <a:spcAft>
                <a:spcPts val="800"/>
              </a:spcAft>
              <a:buChar char="•"/>
            </a:pPr>
            <a:r>
              <a:rPr sz="1800" b="0" i="0">
                <a:solidFill>
                  <a:schemeClr val="tx1"/>
                </a:solidFill>
                <a:latin typeface="+mj-lt"/>
              </a:rPr>
              <a:t>Cutoff of 0.25 for 'Yes'</a:t>
            </a:r>
          </a:p>
          <a:p>
            <a:pPr marL="228600" indent="-228600">
              <a:spcAft>
                <a:spcPts val="800"/>
              </a:spcAft>
              <a:buChar char="•"/>
            </a:pPr>
            <a:r>
              <a:rPr sz="1800" b="0" i="0">
                <a:solidFill>
                  <a:schemeClr val="tx1"/>
                </a:solidFill>
                <a:latin typeface="+mj-lt"/>
              </a:rPr>
              <a:t>71.8% sensitivity, 70.7% specificity on average</a:t>
            </a:r>
          </a:p>
        </p:txBody>
      </p:sp>
      <p:sp>
        <p:nvSpPr>
          <p:cNvPr id="32" name="Rounded Rectangle 31"/>
          <p:cNvSpPr/>
          <p:nvPr/>
        </p:nvSpPr>
        <p:spPr>
          <a:xfrm>
            <a:off x="8046719" y="1371600"/>
            <a:ext cx="3566160" cy="3931920"/>
          </a:xfrm>
          <a:prstGeom prst="roundRect">
            <a:avLst>
              <a:gd name="adj" fmla="val 4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321040" y="1600200"/>
            <a:ext cx="3017520" cy="457200"/>
          </a:xfrm>
          <a:prstGeom prst="rect">
            <a:avLst/>
          </a:prstGeom>
          <a:noFill/>
        </p:spPr>
        <p:txBody>
          <a:bodyPr wrap="square" lIns="0" tIns="0" rIns="0" bIns="0" anchor="t">
            <a:spAutoFit/>
          </a:bodyPr>
          <a:lstStyle/>
          <a:p>
            <a:r>
              <a:rPr sz="2400" b="1" i="0">
                <a:solidFill>
                  <a:schemeClr val="accent1"/>
                </a:solidFill>
                <a:latin typeface="+mj-lt"/>
              </a:rPr>
              <a:t>Recommendations</a:t>
            </a:r>
          </a:p>
        </p:txBody>
      </p:sp>
      <p:sp>
        <p:nvSpPr>
          <p:cNvPr id="34" name="TextBox 33"/>
          <p:cNvSpPr txBox="1"/>
          <p:nvPr/>
        </p:nvSpPr>
        <p:spPr>
          <a:xfrm>
            <a:off x="8321040" y="2286000"/>
            <a:ext cx="3017520" cy="2926080"/>
          </a:xfrm>
          <a:prstGeom prst="rect">
            <a:avLst/>
          </a:prstGeom>
          <a:noFill/>
        </p:spPr>
        <p:txBody>
          <a:bodyPr wrap="square" lIns="0" tIns="0" rIns="0" bIns="0">
            <a:spAutoFit/>
          </a:bodyPr>
          <a:lstStyle/>
          <a:p>
            <a:pPr marL="228600" indent="-228600">
              <a:spcAft>
                <a:spcPts val="800"/>
              </a:spcAft>
              <a:buChar char="•"/>
            </a:pPr>
            <a:r>
              <a:rPr sz="1800" b="0" i="0">
                <a:solidFill>
                  <a:schemeClr val="tx1"/>
                </a:solidFill>
                <a:latin typeface="+mj-lt"/>
              </a:rPr>
              <a:t>Target the $200 incentive using the model</a:t>
            </a:r>
          </a:p>
          <a:p>
            <a:pPr marL="228600" indent="-228600">
              <a:spcAft>
                <a:spcPts val="800"/>
              </a:spcAft>
              <a:buChar char="•"/>
            </a:pPr>
            <a:r>
              <a:rPr sz="1800" b="0" i="0">
                <a:solidFill>
                  <a:schemeClr val="tx1"/>
                </a:solidFill>
                <a:latin typeface="+mj-lt"/>
              </a:rPr>
              <a:t>Review overtime load for hourly staff</a:t>
            </a:r>
          </a:p>
          <a:p>
            <a:pPr marL="228600" indent="-228600">
              <a:spcAft>
                <a:spcPts val="800"/>
              </a:spcAft>
              <a:buChar char="•"/>
            </a:pPr>
            <a:r>
              <a:rPr sz="1800" b="0" i="0">
                <a:solidFill>
                  <a:schemeClr val="tx1"/>
                </a:solidFill>
                <a:latin typeface="+mj-lt"/>
              </a:rPr>
              <a:t>Extend stock options to entry-level staff</a:t>
            </a:r>
          </a:p>
          <a:p>
            <a:pPr marL="228600" indent="-228600">
              <a:spcAft>
                <a:spcPts val="800"/>
              </a:spcAft>
              <a:buChar char="•"/>
            </a:pPr>
            <a:r>
              <a:rPr sz="1800" b="0" i="0">
                <a:solidFill>
                  <a:schemeClr val="tx1"/>
                </a:solidFill>
                <a:latin typeface="+mj-lt"/>
              </a:rPr>
              <a:t>Watch Sales Representatives (45.3% left)</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500"/>
                                        <p:tgtEl>
                                          <p:spTgt spid="2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500"/>
                                        <p:tgtEl>
                                          <p:spTgt spid="3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fade">
                                      <p:cBhvr>
                                        <p:cTn id="24" dur="500"/>
                                        <p:tgtEl>
                                          <p:spTgt spid="3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500"/>
                                        <p:tgtEl>
                                          <p:spTgt spid="3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500"/>
                                        <p:tgtEl>
                                          <p:spTgt spid="3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animEffect transition="in" filter="fade">
                                      <p:cBhvr>
                                        <p:cTn id="3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theme/theme1.xml><?xml version="1.0" encoding="utf-8"?>
<a:theme xmlns:a="http://schemas.openxmlformats.org/drawingml/2006/main" name="Attrition">
  <a:themeElements>
    <a:clrScheme name="Attrition">
      <a:dk1>
        <a:srgbClr val="1F2A44"/>
      </a:dk1>
      <a:lt1>
        <a:srgbClr val="FFFFFF"/>
      </a:lt1>
      <a:dk2>
        <a:srgbClr val="4A5870"/>
      </a:dk2>
      <a:lt2>
        <a:srgbClr val="EEF1F5"/>
      </a:lt2>
      <a:accent1>
        <a:srgbClr val="D9661F"/>
      </a:accent1>
      <a:accent2>
        <a:srgbClr val="8FA3B8"/>
      </a:accent2>
      <a:accent3>
        <a:srgbClr val="2E7D6B"/>
      </a:accent3>
      <a:accent4>
        <a:srgbClr val="B03A2E"/>
      </a:accent4>
      <a:accent5>
        <a:srgbClr val="5B6B82"/>
      </a:accent5>
      <a:accent6>
        <a:srgbClr val="F2B880"/>
      </a:accent6>
      <a:hlink>
        <a:srgbClr val="1F5FA8"/>
      </a:hlink>
      <a:folHlink>
        <a:srgbClr val="6D4C8D"/>
      </a:folHlink>
    </a:clrScheme>
    <a:fontScheme name="Attri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4668</TotalTime>
  <Words>1958</Words>
  <Application>Microsoft Office PowerPoint</Application>
  <PresentationFormat>Widescreen</PresentationFormat>
  <Paragraphs>250</Paragraphs>
  <Slides>15</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Bahnschrift Light</vt:lpstr>
      <vt:lpstr>Calibri</vt:lpstr>
      <vt:lpstr>Cambria</vt:lpstr>
      <vt:lpstr>Attrition</vt:lpstr>
      <vt:lpstr>What Drives Employee Attrition at Frito‑Lay?</vt:lpstr>
      <vt:lpstr>Overview</vt:lpstr>
      <vt:lpstr>Sample Attrition</vt:lpstr>
      <vt:lpstr>Data Breakdown</vt:lpstr>
      <vt:lpstr>Top Factor 1: Overtime Workers</vt:lpstr>
      <vt:lpstr>Top Factor 2: No Stock Options, Higher Attrition</vt:lpstr>
      <vt:lpstr>Top Factor 3: Monthly Income</vt:lpstr>
      <vt:lpstr>PowerPoint Presentation</vt:lpstr>
      <vt:lpstr>Modeling Approach</vt:lpstr>
      <vt:lpstr>What Sensitivity and Specificity Mean for Frito‑Lay</vt:lpstr>
      <vt:lpstr>KNN: Tuning k and Lowering the Cutoff</vt:lpstr>
      <vt:lpstr>Lowering the Cutoff Balances the Models</vt:lpstr>
      <vt:lpstr>Both Tuned Models Clear 60 / 60</vt:lpstr>
      <vt:lpstr>The Model Pays for Itself</vt:lpstr>
      <vt:lpstr>Conclusion and Recommendations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Frito-Lay Employee Attrition - Working Draft</dc:title>
  <dc:subject>PptxGenJS Presentation</dc:subject>
  <dc:creator>Jorge Vazquez</dc:creator>
  <cp:lastModifiedBy>Jorge V.</cp:lastModifiedBy>
  <cp:revision>4</cp:revision>
  <dcterms:created xsi:type="dcterms:W3CDTF">2026-10-22T22:39:53Z</dcterms:created>
  <dcterms:modified xsi:type="dcterms:W3CDTF">2026-10-26T04:37:43Z</dcterms:modified>
</cp:coreProperties>
</file>